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</p:sldMasterIdLst>
  <p:notesMasterIdLst>
    <p:notesMasterId r:id="rId20"/>
  </p:notesMasterIdLst>
  <p:sldIdLst>
    <p:sldId id="282" r:id="rId2"/>
    <p:sldId id="295" r:id="rId3"/>
    <p:sldId id="303" r:id="rId4"/>
    <p:sldId id="306" r:id="rId5"/>
    <p:sldId id="291" r:id="rId6"/>
    <p:sldId id="286" r:id="rId7"/>
    <p:sldId id="307" r:id="rId8"/>
    <p:sldId id="309" r:id="rId9"/>
    <p:sldId id="311" r:id="rId10"/>
    <p:sldId id="308" r:id="rId11"/>
    <p:sldId id="310" r:id="rId12"/>
    <p:sldId id="292" r:id="rId13"/>
    <p:sldId id="312" r:id="rId14"/>
    <p:sldId id="316" r:id="rId15"/>
    <p:sldId id="315" r:id="rId16"/>
    <p:sldId id="293" r:id="rId17"/>
    <p:sldId id="290" r:id="rId18"/>
    <p:sldId id="304" r:id="rId19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7349"/>
    <a:srgbClr val="D67B52"/>
    <a:srgbClr val="D8754A"/>
    <a:srgbClr val="003366"/>
    <a:srgbClr val="ED7D31"/>
    <a:srgbClr val="699970"/>
    <a:srgbClr val="282828"/>
    <a:srgbClr val="C42E3F"/>
    <a:srgbClr val="00C49F"/>
    <a:srgbClr val="D677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5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07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EB6FD-3266-4B0D-9F18-0B9F1A7415AF}" type="datetimeFigureOut">
              <a:rPr lang="ar-SA" smtClean="0"/>
              <a:t>24/11/1447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A9F70-D402-4840-9303-22F7892DF422}" type="slidenum">
              <a:rPr lang="ar-SA" smtClean="0"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مستطيل: زوايا مستديرة 41"/>
          <p:cNvSpPr/>
          <p:nvPr/>
        </p:nvSpPr>
        <p:spPr>
          <a:xfrm>
            <a:off x="1794361" y="1473138"/>
            <a:ext cx="8595360" cy="457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00000"/>
              </a:gs>
              <a:gs pos="50000">
                <a:schemeClr val="tx2">
                  <a:lumMod val="75000"/>
                  <a:lumOff val="25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>
            <a:outerShdw blurRad="228600" dir="15000000" sy="23000" kx="1200000" algn="br" rotWithShape="0">
              <a:prstClr val="black">
                <a:alpha val="38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 panose="020B0604020202020204"/>
            </a:endParaRPr>
          </a:p>
        </p:txBody>
      </p:sp>
      <p:grpSp>
        <p:nvGrpSpPr>
          <p:cNvPr id="54" name="مجموعة 53"/>
          <p:cNvGrpSpPr/>
          <p:nvPr/>
        </p:nvGrpSpPr>
        <p:grpSpPr>
          <a:xfrm>
            <a:off x="10777836" y="171462"/>
            <a:ext cx="1279011" cy="1342144"/>
            <a:chOff x="10709031" y="226848"/>
            <a:chExt cx="1279011" cy="1342144"/>
          </a:xfrm>
        </p:grpSpPr>
        <p:sp>
          <p:nvSpPr>
            <p:cNvPr id="52" name="مخطط انسيابي: مهلة 51"/>
            <p:cNvSpPr/>
            <p:nvPr/>
          </p:nvSpPr>
          <p:spPr>
            <a:xfrm rot="5400000">
              <a:off x="10677465" y="258414"/>
              <a:ext cx="1342144" cy="1279011"/>
            </a:xfrm>
            <a:prstGeom prst="flowChartDelay">
              <a:avLst/>
            </a:prstGeom>
            <a:solidFill>
              <a:schemeClr val="bg1"/>
            </a:solidFill>
            <a:ln w="38100">
              <a:gradFill flip="none" rotWithShape="1">
                <a:gsLst>
                  <a:gs pos="0">
                    <a:schemeClr val="tx1"/>
                  </a:gs>
                  <a:gs pos="52000">
                    <a:srgbClr val="FFC000"/>
                  </a:gs>
                  <a:gs pos="8300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tx1"/>
                  </a:gs>
                </a:gsLst>
                <a:path path="circle">
                  <a:fillToRect t="100000" r="100000"/>
                </a:path>
                <a:tileRect l="-100000" b="-100000"/>
              </a:gradFill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ar-S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8" name="صورة 2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32" t="9517" r="18315" b="26183"/>
            <a:stretch>
              <a:fillRect/>
            </a:stretch>
          </p:blipFill>
          <p:spPr>
            <a:xfrm>
              <a:off x="10764546" y="269521"/>
              <a:ext cx="1170744" cy="1263969"/>
            </a:xfrm>
            <a:custGeom>
              <a:avLst/>
              <a:gdLst>
                <a:gd name="connsiteX0" fmla="*/ 0 w 1469070"/>
                <a:gd name="connsiteY0" fmla="*/ 0 h 1589924"/>
                <a:gd name="connsiteX1" fmla="*/ 1469070 w 1469070"/>
                <a:gd name="connsiteY1" fmla="*/ 0 h 1589924"/>
                <a:gd name="connsiteX2" fmla="*/ 1469070 w 1469070"/>
                <a:gd name="connsiteY2" fmla="*/ 974070 h 1589924"/>
                <a:gd name="connsiteX3" fmla="*/ 1294364 w 1469070"/>
                <a:gd name="connsiteY3" fmla="*/ 1353187 h 1589924"/>
                <a:gd name="connsiteX4" fmla="*/ 803145 w 1469070"/>
                <a:gd name="connsiteY4" fmla="*/ 1589924 h 1589924"/>
                <a:gd name="connsiteX5" fmla="*/ 669018 w 1469070"/>
                <a:gd name="connsiteY5" fmla="*/ 1589924 h 1589924"/>
                <a:gd name="connsiteX6" fmla="*/ 169558 w 1469070"/>
                <a:gd name="connsiteY6" fmla="*/ 1337861 h 1589924"/>
                <a:gd name="connsiteX7" fmla="*/ 0 w 1469070"/>
                <a:gd name="connsiteY7" fmla="*/ 1076870 h 158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69070" h="1589924">
                  <a:moveTo>
                    <a:pt x="0" y="0"/>
                  </a:moveTo>
                  <a:lnTo>
                    <a:pt x="1469070" y="0"/>
                  </a:lnTo>
                  <a:lnTo>
                    <a:pt x="1469070" y="974070"/>
                  </a:lnTo>
                  <a:lnTo>
                    <a:pt x="1294364" y="1353187"/>
                  </a:lnTo>
                  <a:lnTo>
                    <a:pt x="803145" y="1589924"/>
                  </a:lnTo>
                  <a:lnTo>
                    <a:pt x="669018" y="1589924"/>
                  </a:lnTo>
                  <a:lnTo>
                    <a:pt x="169558" y="1337861"/>
                  </a:lnTo>
                  <a:lnTo>
                    <a:pt x="0" y="1076870"/>
                  </a:lnTo>
                  <a:close/>
                </a:path>
              </a:pathLst>
            </a:custGeom>
          </p:spPr>
        </p:pic>
      </p:grpSp>
      <p:sp>
        <p:nvSpPr>
          <p:cNvPr id="56" name="Google Shape;418;p11"/>
          <p:cNvSpPr txBox="1"/>
          <p:nvPr/>
        </p:nvSpPr>
        <p:spPr>
          <a:xfrm>
            <a:off x="1833028" y="222297"/>
            <a:ext cx="7546975" cy="1107996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35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ar-SA" altLang="ar-SA" sz="2400" b="1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Simplified Arabic" panose="02020603050405020304" pitchFamily="18" charset="-78"/>
                <a:cs typeface="Simplified Arabic" panose="02020603050405020304" pitchFamily="18" charset="-78"/>
                <a:sym typeface="Oswald"/>
              </a:rPr>
              <a:t>جامعة النيلين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ar-SA" altLang="ar-SA" sz="2400" b="1" dirty="0">
                <a:ln>
                  <a:solidFill>
                    <a:prstClr val="black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Simplified Arabic" panose="02020603050405020304" pitchFamily="18" charset="-78"/>
                <a:cs typeface="Simplified Arabic" panose="02020603050405020304" pitchFamily="18" charset="-78"/>
                <a:sym typeface="Oswald"/>
              </a:rPr>
              <a:t>كلية علوم الحاسوب وتقانة المعلومات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ar-SA" altLang="ar-SA" sz="2400" b="1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Simplified Arabic" panose="02020603050405020304" pitchFamily="18" charset="-78"/>
                <a:cs typeface="Simplified Arabic" panose="02020603050405020304" pitchFamily="18" charset="-78"/>
                <a:sym typeface="Oswald"/>
              </a:rPr>
              <a:t>قسم علوم الحاسوب</a:t>
            </a:r>
            <a:endParaRPr kumimoji="0" lang="en-US" altLang="ar-SA" sz="2400" b="1" i="0" u="none" strike="noStrike" kern="1200" cap="none" spc="0" normalizeH="0" baseline="0" noProof="0" dirty="0">
              <a:ln>
                <a:solidFill>
                  <a:prstClr val="black"/>
                </a:solidFill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Oswald"/>
              <a:cs typeface="Khalid Art bold" pitchFamily="2" charset="-78"/>
              <a:sym typeface="Oswald"/>
            </a:endParaRPr>
          </a:p>
        </p:txBody>
      </p:sp>
      <p:pic>
        <p:nvPicPr>
          <p:cNvPr id="3" name="Picture 40" descr="A green white and black flag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1770">
            <a:off x="177062" y="69460"/>
            <a:ext cx="1238250" cy="1503680"/>
          </a:xfrm>
          <a:prstGeom prst="rect">
            <a:avLst/>
          </a:prstGeom>
        </p:spPr>
      </p:pic>
      <p:sp>
        <p:nvSpPr>
          <p:cNvPr id="7" name="شبه منحرف 6"/>
          <p:cNvSpPr/>
          <p:nvPr/>
        </p:nvSpPr>
        <p:spPr>
          <a:xfrm>
            <a:off x="0" y="6468595"/>
            <a:ext cx="12192000" cy="369333"/>
          </a:xfrm>
          <a:prstGeom prst="trapezoid">
            <a:avLst>
              <a:gd name="adj" fmla="val 69527"/>
            </a:avLst>
          </a:prstGeom>
          <a:solidFill>
            <a:srgbClr val="D8754A"/>
          </a:solidFill>
          <a:ln w="38100" cap="flat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1" anchor="ctr"/>
          <a:lstStyle/>
          <a:p>
            <a:pPr lvl="0" algn="ctr" rtl="0">
              <a:buClr>
                <a:srgbClr val="000000"/>
              </a:buClr>
              <a:defRPr/>
            </a:pPr>
            <a:r>
              <a:rPr lang="en-US" sz="1865" b="1" kern="0" dirty="0">
                <a:solidFill>
                  <a:srgbClr val="FFFFFF"/>
                </a:solidFill>
                <a:latin typeface="Arial" panose="020B0604020202020204"/>
                <a:cs typeface="Arial" panose="020B0604020202020204" pitchFamily="34" charset="0"/>
                <a:sym typeface="Arial" panose="020B0604020202020204"/>
              </a:rPr>
              <a:t>2026</a:t>
            </a:r>
            <a:endParaRPr kumimoji="0" lang="ar-SA" sz="1865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3" name="مستطيل: زوايا مستديرة 12"/>
          <p:cNvSpPr/>
          <p:nvPr/>
        </p:nvSpPr>
        <p:spPr>
          <a:xfrm>
            <a:off x="331321" y="3324861"/>
            <a:ext cx="11521440" cy="3657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42E3F"/>
              </a:gs>
              <a:gs pos="36000">
                <a:srgbClr val="282828"/>
              </a:gs>
              <a:gs pos="70000">
                <a:srgbClr val="003366"/>
              </a:gs>
              <a:gs pos="100000">
                <a:srgbClr val="699970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>
            <a:outerShdw blurRad="228600" dir="15000000" sy="23000" kx="1200000" algn="br" rotWithShape="0">
              <a:prstClr val="black">
                <a:alpha val="38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4" name="مستطيل: زوايا مستديرة 13"/>
          <p:cNvSpPr/>
          <p:nvPr/>
        </p:nvSpPr>
        <p:spPr>
          <a:xfrm>
            <a:off x="331321" y="5581709"/>
            <a:ext cx="11521440" cy="3657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C00000"/>
              </a:gs>
              <a:gs pos="50000">
                <a:srgbClr val="00FFCC"/>
              </a:gs>
              <a:gs pos="100000">
                <a:srgbClr val="7030A0"/>
              </a:gs>
            </a:gsLst>
            <a:path path="circle">
              <a:fillToRect l="100000" t="100000"/>
            </a:path>
            <a:tileRect r="-100000" b="-100000"/>
          </a:gradFill>
          <a:ln w="25400" cap="flat" cmpd="sng" algn="ctr">
            <a:noFill/>
            <a:prstDash val="solid"/>
          </a:ln>
          <a:effectLst>
            <a:outerShdw blurRad="228600" dir="15000000" sy="23000" kx="1200000" algn="br" rotWithShape="0">
              <a:prstClr val="black">
                <a:alpha val="38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6" name="مربع نص 5"/>
          <p:cNvSpPr txBox="1"/>
          <p:nvPr/>
        </p:nvSpPr>
        <p:spPr>
          <a:xfrm>
            <a:off x="1819437" y="3675672"/>
            <a:ext cx="9013914" cy="79387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noAutofit/>
          </a:bodyPr>
          <a:lstStyle/>
          <a:p>
            <a:pPr algn="ctr">
              <a:defRPr/>
            </a:pPr>
            <a:r>
              <a:rPr kumimoji="0" lang="ar-SA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Condensed" panose="020B0502040204020203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اسم المشروع: </a:t>
            </a:r>
            <a:r>
              <a:rPr lang="ar-SA" sz="3200" b="1" dirty="0">
                <a:latin typeface="Arial" panose="020B0604020202020204" pitchFamily="34" charset="0"/>
                <a:ea typeface="Poppins"/>
                <a:sym typeface="Poppins"/>
              </a:rPr>
              <a:t>نظام التنبؤ الذكي بمرض السكري</a:t>
            </a:r>
            <a:endParaRPr lang="ar-SA" sz="3200" dirty="0">
              <a:latin typeface="Arial" panose="020B0604020202020204" pitchFamily="34" charset="0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Condensed" panose="020B0502040204020203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2" name="مربع نص 11"/>
          <p:cNvSpPr txBox="1"/>
          <p:nvPr/>
        </p:nvSpPr>
        <p:spPr>
          <a:xfrm>
            <a:off x="6685212" y="5794846"/>
            <a:ext cx="5318883" cy="4770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1">
            <a:spAutoFit/>
          </a:bodyPr>
          <a:lstStyle/>
          <a:p>
            <a:pPr algn="l">
              <a:buClrTx/>
              <a:buSzTx/>
              <a:buFontTx/>
              <a:defRPr/>
            </a:pPr>
            <a:r>
              <a:rPr lang="en-US" altLang="en-US" sz="2500" b="1" spc="67" dirty="0">
                <a:ln w="11430">
                  <a:solidFill>
                    <a:sysClr val="windowText" lastClr="000000"/>
                  </a:solidFill>
                </a:ln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Prepare </a:t>
            </a:r>
            <a:r>
              <a:rPr lang="en-US" altLang="en-US" sz="2500" b="1" spc="67" dirty="0" err="1">
                <a:ln w="11430">
                  <a:solidFill>
                    <a:sysClr val="windowText" lastClr="000000"/>
                  </a:solidFill>
                </a:ln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by:Mohammed</a:t>
            </a:r>
            <a:r>
              <a:rPr lang="en-US" altLang="en-US" sz="2500" b="1" spc="67" dirty="0">
                <a:ln w="11430">
                  <a:solidFill>
                    <a:sysClr val="windowText" lastClr="000000"/>
                  </a:solidFill>
                </a:ln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</a:t>
            </a:r>
            <a:r>
              <a:rPr lang="en-US" altLang="en-US" sz="2500" b="1" spc="67" dirty="0" err="1">
                <a:ln w="11430">
                  <a:solidFill>
                    <a:sysClr val="windowText" lastClr="000000"/>
                  </a:solidFill>
                </a:ln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Abulgasim</a:t>
            </a:r>
            <a:endParaRPr lang="en-US" altLang="en-US" b="1" spc="67" dirty="0">
              <a:ln w="11430">
                <a:solidFill>
                  <a:sysClr val="windowText" lastClr="000000"/>
                </a:solidFill>
              </a:ln>
              <a:solidFill>
                <a:schemeClr val="tx2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16" name="مربع نص 15"/>
          <p:cNvSpPr txBox="1"/>
          <p:nvPr/>
        </p:nvSpPr>
        <p:spPr>
          <a:xfrm>
            <a:off x="533734" y="5572940"/>
            <a:ext cx="4527369" cy="75405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1">
            <a:spAutoFit/>
          </a:bodyPr>
          <a:lstStyle/>
          <a:p>
            <a:pPr algn="l">
              <a:defRPr/>
            </a:pPr>
            <a:r>
              <a:rPr lang="en-US" sz="2500" b="1" spc="67" dirty="0">
                <a:ln w="11430">
                  <a:solidFill>
                    <a:sysClr val="windowText" lastClr="000000"/>
                  </a:solidFill>
                </a:ln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Dr. Amin Mubarak </a:t>
            </a:r>
          </a:p>
          <a:p>
            <a:pPr algn="l">
              <a:buClrTx/>
              <a:buSzTx/>
              <a:buFontTx/>
              <a:defRPr/>
            </a:pPr>
            <a:r>
              <a:rPr lang="en-US" b="1" spc="67" dirty="0">
                <a:ln w="11430">
                  <a:solidFill>
                    <a:sysClr val="windowText" lastClr="000000"/>
                  </a:solidFill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ALnaileen </a:t>
            </a:r>
            <a:r>
              <a:rPr lang="en-US" b="1" spc="67" dirty="0">
                <a:ln w="11430">
                  <a:solidFill>
                    <a:sysClr val="windowText" lastClr="000000"/>
                  </a:solidFill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lang="en-US" altLang="en-US" b="1" spc="67" dirty="0">
              <a:ln w="11430">
                <a:solidFill>
                  <a:sysClr val="windowText" lastClr="000000"/>
                </a:solidFill>
              </a:ln>
              <a:solidFill>
                <a:schemeClr val="tx2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83448-03A0-4C80-BE3C-D080A7A64F63}"/>
              </a:ext>
            </a:extLst>
          </p:cNvPr>
          <p:cNvSpPr txBox="1"/>
          <p:nvPr/>
        </p:nvSpPr>
        <p:spPr>
          <a:xfrm>
            <a:off x="4493890" y="2393318"/>
            <a:ext cx="3735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2400" b="1" dirty="0" err="1"/>
              <a:t>مسار:الذكاء</a:t>
            </a:r>
            <a:r>
              <a:rPr lang="ar-SA" sz="2400" b="1" dirty="0"/>
              <a:t> الاصطناعي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/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2" name="شبه منحرف 1"/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/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/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5" name="مستطيل 4"/>
          <p:cNvSpPr/>
          <p:nvPr/>
        </p:nvSpPr>
        <p:spPr>
          <a:xfrm>
            <a:off x="0" y="562711"/>
            <a:ext cx="12192000" cy="91440"/>
          </a:xfrm>
          <a:prstGeom prst="rect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مخطط انسيابي: بيانات مخزّنة 15"/>
          <p:cNvSpPr/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I</a:t>
            </a: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ntroduction</a:t>
            </a:r>
            <a:endParaRPr kumimoji="0" lang="ar-SA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pic>
        <p:nvPicPr>
          <p:cNvPr id="6" name="Google Shape;111;p15" descr="image.png">
            <a:extLst>
              <a:ext uri="{FF2B5EF4-FFF2-40B4-BE49-F238E27FC236}">
                <a16:creationId xmlns:a16="http://schemas.microsoft.com/office/drawing/2014/main" id="{DDEB3185-F4F4-F3DB-8178-EA503E75F0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4305"/>
            <a:ext cx="3806040" cy="39909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8;p14">
            <a:extLst>
              <a:ext uri="{FF2B5EF4-FFF2-40B4-BE49-F238E27FC236}">
                <a16:creationId xmlns:a16="http://schemas.microsoft.com/office/drawing/2014/main" id="{C5DEBF54-C777-3522-A404-46930DE54D5B}"/>
              </a:ext>
            </a:extLst>
          </p:cNvPr>
          <p:cNvSpPr txBox="1"/>
          <p:nvPr/>
        </p:nvSpPr>
        <p:spPr>
          <a:xfrm>
            <a:off x="5864227" y="1034710"/>
            <a:ext cx="527685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يعد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مرض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السكري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من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أكثر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الأمراض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انتشاراً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وتأثيراً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على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الصحة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العامة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عالمياً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يهدف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هذا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المشروع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إلى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استغلال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قوة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الذكاء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الاصطناعي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لتشخيص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المرض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مراحله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المبكرة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4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8" name="Google Shape;99;p14">
            <a:extLst>
              <a:ext uri="{FF2B5EF4-FFF2-40B4-BE49-F238E27FC236}">
                <a16:creationId xmlns:a16="http://schemas.microsoft.com/office/drawing/2014/main" id="{1448FCA0-25D4-0607-F705-7281515B1BBC}"/>
              </a:ext>
            </a:extLst>
          </p:cNvPr>
          <p:cNvSpPr txBox="1"/>
          <p:nvPr/>
        </p:nvSpPr>
        <p:spPr>
          <a:xfrm>
            <a:off x="5831833" y="3682627"/>
            <a:ext cx="527685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من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خلال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تحليل</a:t>
            </a:r>
            <a:r>
              <a:rPr lang="en-US" sz="2400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ar-SA" sz="2400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8</a:t>
            </a:r>
            <a:r>
              <a:rPr lang="en-US" sz="2400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معايير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طبية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حيوية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،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يستطيع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النظام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التنبؤ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بدقة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بحالة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المريض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،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مما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يدعم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الكوادر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الطبية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اتخاذ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قرارات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دقيقة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مبنية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على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البيانات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4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7529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مخطط انسيابي: بيانات مخزّنة 15"/>
          <p:cNvSpPr/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Research Gap</a:t>
            </a:r>
            <a:endParaRPr kumimoji="0" lang="ar-SA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grpSp>
        <p:nvGrpSpPr>
          <p:cNvPr id="15" name="مجموعة 14"/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2" name="شبه منحرف 1"/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/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/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3" name="Text Box 2"/>
          <p:cNvSpPr txBox="1"/>
          <p:nvPr/>
        </p:nvSpPr>
        <p:spPr>
          <a:xfrm>
            <a:off x="6096000" y="1495872"/>
            <a:ext cx="5041692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تكمن مشكلة ال</a:t>
            </a:r>
            <a:r>
              <a:rPr kumimoji="0" lang="ar-S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مشروع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 </a:t>
            </a:r>
            <a:r>
              <a:rPr kumimoji="0" lang="ar-S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 في 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pic>
        <p:nvPicPr>
          <p:cNvPr id="4" name="Google Shape;119;p16" descr="image.png">
            <a:extLst>
              <a:ext uri="{FF2B5EF4-FFF2-40B4-BE49-F238E27FC236}">
                <a16:creationId xmlns:a16="http://schemas.microsoft.com/office/drawing/2014/main" id="{3974D8BB-F730-4EC0-5674-496FDBBD80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8001" y="2324663"/>
            <a:ext cx="5586679" cy="3509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0;p16" descr="image.png">
            <a:extLst>
              <a:ext uri="{FF2B5EF4-FFF2-40B4-BE49-F238E27FC236}">
                <a16:creationId xmlns:a16="http://schemas.microsoft.com/office/drawing/2014/main" id="{4D656B06-C8B9-B349-0093-18C850B823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320" y="2324662"/>
            <a:ext cx="5381625" cy="353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2;p16" descr="image.png">
            <a:extLst>
              <a:ext uri="{FF2B5EF4-FFF2-40B4-BE49-F238E27FC236}">
                <a16:creationId xmlns:a16="http://schemas.microsoft.com/office/drawing/2014/main" id="{C0F29E8A-3CAF-00FA-2DED-19625B3882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2517" y="253800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3;p16">
            <a:extLst>
              <a:ext uri="{FF2B5EF4-FFF2-40B4-BE49-F238E27FC236}">
                <a16:creationId xmlns:a16="http://schemas.microsoft.com/office/drawing/2014/main" id="{8B4F5219-A201-39E0-EC8A-7BC13181CA1F}"/>
              </a:ext>
            </a:extLst>
          </p:cNvPr>
          <p:cNvSpPr txBox="1"/>
          <p:nvPr/>
        </p:nvSpPr>
        <p:spPr>
          <a:xfrm>
            <a:off x="6356027" y="3514122"/>
            <a:ext cx="50306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00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التشخيص</a:t>
            </a:r>
            <a:r>
              <a:rPr lang="en-US" sz="2100" b="1" i="0" u="none" strike="noStrike" cap="none" dirty="0">
                <a:solidFill>
                  <a:srgbClr val="FFFF00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FFFF00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التقليدي</a:t>
            </a:r>
            <a:endParaRPr dirty="0">
              <a:solidFill>
                <a:srgbClr val="FFFF00"/>
              </a:solidFill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8" name="Google Shape;124;p16">
            <a:extLst>
              <a:ext uri="{FF2B5EF4-FFF2-40B4-BE49-F238E27FC236}">
                <a16:creationId xmlns:a16="http://schemas.microsoft.com/office/drawing/2014/main" id="{CCF11810-DCC8-B061-8D91-00BCA357616C}"/>
              </a:ext>
            </a:extLst>
          </p:cNvPr>
          <p:cNvSpPr txBox="1"/>
          <p:nvPr/>
        </p:nvSpPr>
        <p:spPr>
          <a:xfrm>
            <a:off x="6366979" y="4140008"/>
            <a:ext cx="47910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يعتمد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التشخيص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الحالي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على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الفحوصات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المختبرية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فقط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،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مما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قد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يؤدي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إلى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تأخر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اكتشاف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المرض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مراحله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الأولى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9" name="Google Shape;125;p16" descr="image.png">
            <a:extLst>
              <a:ext uri="{FF2B5EF4-FFF2-40B4-BE49-F238E27FC236}">
                <a16:creationId xmlns:a16="http://schemas.microsoft.com/office/drawing/2014/main" id="{C79E557D-BBFE-3846-98CB-28D20E6BA9D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89532" y="2737274"/>
            <a:ext cx="457200" cy="45239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14;p15">
            <a:extLst>
              <a:ext uri="{FF2B5EF4-FFF2-40B4-BE49-F238E27FC236}">
                <a16:creationId xmlns:a16="http://schemas.microsoft.com/office/drawing/2014/main" id="{6D236DC3-0854-9CBF-70FE-F184A125702F}"/>
              </a:ext>
            </a:extLst>
          </p:cNvPr>
          <p:cNvSpPr txBox="1"/>
          <p:nvPr/>
        </p:nvSpPr>
        <p:spPr>
          <a:xfrm>
            <a:off x="876300" y="4054673"/>
            <a:ext cx="4686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نقص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الأدوات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البرمجية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التفاعلية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التي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تعمل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"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أوفلاين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"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وتدعم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اللغة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العربية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لمساعدة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الكوادر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الطبية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المناطق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النائية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18" name="Google Shape;113;p15">
            <a:extLst>
              <a:ext uri="{FF2B5EF4-FFF2-40B4-BE49-F238E27FC236}">
                <a16:creationId xmlns:a16="http://schemas.microsoft.com/office/drawing/2014/main" id="{03374F28-DDB4-4977-DFCC-22926F5FDD00}"/>
              </a:ext>
            </a:extLst>
          </p:cNvPr>
          <p:cNvSpPr txBox="1"/>
          <p:nvPr/>
        </p:nvSpPr>
        <p:spPr>
          <a:xfrm>
            <a:off x="876300" y="3368873"/>
            <a:ext cx="492061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الفجوة</a:t>
            </a:r>
            <a:r>
              <a:rPr lang="en-US" sz="2100" b="1" i="0" u="none" strike="noStrike" cap="none" dirty="0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التقنية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8549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مخطط انسيابي: بيانات مخزّنة 15"/>
          <p:cNvSpPr/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Research </a:t>
            </a:r>
            <a:r>
              <a:rPr lang="en-US" altLang="en-US" sz="2800" dirty="0">
                <a:solidFill>
                  <a:prstClr val="white"/>
                </a:solidFill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kumimoji="0" lang="ar-SA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grpSp>
        <p:nvGrpSpPr>
          <p:cNvPr id="15" name="مجموعة 14"/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2" name="شبه منحرف 1"/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/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/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6CDCDC7B-0F51-B378-17E1-AE340F140A8C}"/>
              </a:ext>
            </a:extLst>
          </p:cNvPr>
          <p:cNvSpPr txBox="1"/>
          <p:nvPr/>
        </p:nvSpPr>
        <p:spPr>
          <a:xfrm>
            <a:off x="3780890" y="1650860"/>
            <a:ext cx="5733781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بناء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نموذج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تصنيف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دقيق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باستخدام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خوارزمية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Random Forest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للتنبؤ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بالإصابة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4" name="Google Shape;137;p17">
            <a:extLst>
              <a:ext uri="{FF2B5EF4-FFF2-40B4-BE49-F238E27FC236}">
                <a16:creationId xmlns:a16="http://schemas.microsoft.com/office/drawing/2014/main" id="{25114E49-6FBB-8798-F2E7-BBD6F741E098}"/>
              </a:ext>
            </a:extLst>
          </p:cNvPr>
          <p:cNvSpPr txBox="1"/>
          <p:nvPr/>
        </p:nvSpPr>
        <p:spPr>
          <a:xfrm>
            <a:off x="3585680" y="2740092"/>
            <a:ext cx="592898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تطوير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واجهة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برمجية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تفاعلية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تدعم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اللغة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العربية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وتعمل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بدون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الحاجة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لاتصال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بالإنترنت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5" name="Google Shape;138;p17">
            <a:extLst>
              <a:ext uri="{FF2B5EF4-FFF2-40B4-BE49-F238E27FC236}">
                <a16:creationId xmlns:a16="http://schemas.microsoft.com/office/drawing/2014/main" id="{DA24896D-6C57-2A6F-9595-A02CD1030EBA}"/>
              </a:ext>
            </a:extLst>
          </p:cNvPr>
          <p:cNvSpPr txBox="1"/>
          <p:nvPr/>
        </p:nvSpPr>
        <p:spPr>
          <a:xfrm>
            <a:off x="2825393" y="3914983"/>
            <a:ext cx="6689277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توفير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أداة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مساعدة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للكوادر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الطبية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لدعم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اتخاذ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القرار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المبني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على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البيانات</a:t>
            </a:r>
            <a:r>
              <a:rPr lang="en-US" sz="2000" b="0" i="0" u="none" strike="noStrike" cap="none" dirty="0">
                <a:latin typeface="Cairo" panose="020B0604020202020204" charset="-78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6" name="Google Shape;142;p17">
            <a:extLst>
              <a:ext uri="{FF2B5EF4-FFF2-40B4-BE49-F238E27FC236}">
                <a16:creationId xmlns:a16="http://schemas.microsoft.com/office/drawing/2014/main" id="{463E32D7-B6D8-A3D7-DD88-AC9C444A6F26}"/>
              </a:ext>
            </a:extLst>
          </p:cNvPr>
          <p:cNvSpPr txBox="1"/>
          <p:nvPr/>
        </p:nvSpPr>
        <p:spPr>
          <a:xfrm>
            <a:off x="4602822" y="979735"/>
            <a:ext cx="682717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أهداف</a:t>
            </a:r>
            <a:r>
              <a:rPr lang="en-US" sz="315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البحث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7" name="Google Shape;139;p17" descr="image.png">
            <a:extLst>
              <a:ext uri="{FF2B5EF4-FFF2-40B4-BE49-F238E27FC236}">
                <a16:creationId xmlns:a16="http://schemas.microsoft.com/office/drawing/2014/main" id="{DB253406-9FCC-2F39-A14B-D4FEF035FE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5172" y="203446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9;p17" descr="image.png">
            <a:extLst>
              <a:ext uri="{FF2B5EF4-FFF2-40B4-BE49-F238E27FC236}">
                <a16:creationId xmlns:a16="http://schemas.microsoft.com/office/drawing/2014/main" id="{BDEF4182-11EB-4FCF-8F35-93B35AEFC5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22297" y="313372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9;p17" descr="image.png">
            <a:extLst>
              <a:ext uri="{FF2B5EF4-FFF2-40B4-BE49-F238E27FC236}">
                <a16:creationId xmlns:a16="http://schemas.microsoft.com/office/drawing/2014/main" id="{B3A583CE-AD0E-CF76-0A7D-B7ADB7D6F6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22297" y="4356440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7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/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2" name="شبه منحرف 1"/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/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/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/>
          <p:cNvSpPr/>
          <p:nvPr/>
        </p:nvSpPr>
        <p:spPr>
          <a:xfrm>
            <a:off x="290195" y="999490"/>
            <a:ext cx="3399155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Research Methodology</a:t>
            </a:r>
            <a:endParaRPr kumimoji="0" lang="ar-SA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20" name="Google Shape;162;p18">
            <a:extLst>
              <a:ext uri="{FF2B5EF4-FFF2-40B4-BE49-F238E27FC236}">
                <a16:creationId xmlns:a16="http://schemas.microsoft.com/office/drawing/2014/main" id="{81C6B225-65E2-3A56-4DF0-291F7493E04A}"/>
              </a:ext>
            </a:extLst>
          </p:cNvPr>
          <p:cNvSpPr txBox="1"/>
          <p:nvPr/>
        </p:nvSpPr>
        <p:spPr>
          <a:xfrm>
            <a:off x="5507182" y="979735"/>
            <a:ext cx="592281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منهجية البحث (Methodology)</a:t>
            </a:r>
            <a:endParaRPr sz="32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21" name="Google Shape;123;p16" descr="image.png">
            <a:extLst>
              <a:ext uri="{FF2B5EF4-FFF2-40B4-BE49-F238E27FC236}">
                <a16:creationId xmlns:a16="http://schemas.microsoft.com/office/drawing/2014/main" id="{C50183A5-019F-2D44-F835-A14FAC60F1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8196" y="2538821"/>
            <a:ext cx="3549550" cy="316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24;p16" descr="image.png">
            <a:extLst>
              <a:ext uri="{FF2B5EF4-FFF2-40B4-BE49-F238E27FC236}">
                <a16:creationId xmlns:a16="http://schemas.microsoft.com/office/drawing/2014/main" id="{A715654E-1BE8-871F-03D4-0E02D66517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610" y="2646859"/>
            <a:ext cx="3549699" cy="3055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25;p16" descr="image.png">
            <a:extLst>
              <a:ext uri="{FF2B5EF4-FFF2-40B4-BE49-F238E27FC236}">
                <a16:creationId xmlns:a16="http://schemas.microsoft.com/office/drawing/2014/main" id="{25B7019D-2E94-EFAE-D7DC-EC08355AB98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399" y="2694828"/>
            <a:ext cx="3549550" cy="300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26;p16" descr="image.png">
            <a:extLst>
              <a:ext uri="{FF2B5EF4-FFF2-40B4-BE49-F238E27FC236}">
                <a16:creationId xmlns:a16="http://schemas.microsoft.com/office/drawing/2014/main" id="{98D24DAB-72B3-F39F-F7D2-19F01A2D5B6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744200" y="274974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27;p16">
            <a:extLst>
              <a:ext uri="{FF2B5EF4-FFF2-40B4-BE49-F238E27FC236}">
                <a16:creationId xmlns:a16="http://schemas.microsoft.com/office/drawing/2014/main" id="{2B84C3CD-93BE-E893-6E9A-A1817A903B1A}"/>
              </a:ext>
            </a:extLst>
          </p:cNvPr>
          <p:cNvSpPr txBox="1"/>
          <p:nvPr/>
        </p:nvSpPr>
        <p:spPr>
          <a:xfrm>
            <a:off x="8356699" y="3511748"/>
            <a:ext cx="3106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البيانات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26" name="Google Shape;128;p16">
            <a:extLst>
              <a:ext uri="{FF2B5EF4-FFF2-40B4-BE49-F238E27FC236}">
                <a16:creationId xmlns:a16="http://schemas.microsoft.com/office/drawing/2014/main" id="{8E5A6178-0444-1CF4-B4F7-84835A4EF9BA}"/>
              </a:ext>
            </a:extLst>
          </p:cNvPr>
          <p:cNvSpPr txBox="1"/>
          <p:nvPr/>
        </p:nvSpPr>
        <p:spPr>
          <a:xfrm>
            <a:off x="8280971" y="4197548"/>
            <a:ext cx="33621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استخدام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قاعدة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بيانات</a:t>
            </a:r>
            <a:r>
              <a:rPr lang="ar-SA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:</a:t>
            </a:r>
            <a:endParaRPr lang="ar-SA" b="0" i="0" u="none" strike="noStrike" cap="none" dirty="0">
              <a:solidFill>
                <a:srgbClr val="DAFFDE"/>
              </a:solidFill>
              <a:latin typeface="Cairo"/>
              <a:ea typeface="Monotype Koufi" pitchFamily="2" charset="-78"/>
              <a:cs typeface="Monotype Koufi" pitchFamily="2" charset="-78"/>
              <a:sym typeface="Cairo"/>
            </a:endParaRPr>
          </a:p>
          <a:p>
            <a:pPr lvl="0" algn="ctr">
              <a:lnSpc>
                <a:spcPct val="150000"/>
              </a:lnSpc>
            </a:pPr>
            <a:r>
              <a:rPr lang="en-US" b="1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Pima Indians</a:t>
            </a:r>
            <a:endParaRPr lang="ar-SA" b="1" i="0" u="none" strike="noStrike" cap="none" dirty="0">
              <a:solidFill>
                <a:srgbClr val="DAFFDE"/>
              </a:solidFill>
              <a:latin typeface="Cairo"/>
              <a:ea typeface="Monotype Koufi" pitchFamily="2" charset="-78"/>
              <a:cs typeface="Monotype Koufi" pitchFamily="2" charset="-78"/>
              <a:sym typeface="Cairo"/>
            </a:endParaRPr>
          </a:p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المعتمدة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طبياً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27" name="Google Shape;129;p16" descr="image.png">
            <a:extLst>
              <a:ext uri="{FF2B5EF4-FFF2-40B4-BE49-F238E27FC236}">
                <a16:creationId xmlns:a16="http://schemas.microsoft.com/office/drawing/2014/main" id="{53B07DA3-FAB8-FB85-01A0-3D2CB275DCC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94650" y="2729066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30;p16">
            <a:extLst>
              <a:ext uri="{FF2B5EF4-FFF2-40B4-BE49-F238E27FC236}">
                <a16:creationId xmlns:a16="http://schemas.microsoft.com/office/drawing/2014/main" id="{657CCABA-B366-CDD7-8AFD-C2506C44EC4C}"/>
              </a:ext>
            </a:extLst>
          </p:cNvPr>
          <p:cNvSpPr txBox="1"/>
          <p:nvPr/>
        </p:nvSpPr>
        <p:spPr>
          <a:xfrm>
            <a:off x="4510521" y="3628490"/>
            <a:ext cx="310710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المعالجة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29" name="Google Shape;131;p16">
            <a:extLst>
              <a:ext uri="{FF2B5EF4-FFF2-40B4-BE49-F238E27FC236}">
                <a16:creationId xmlns:a16="http://schemas.microsoft.com/office/drawing/2014/main" id="{083E45F4-35A8-83AD-4E0B-A25E155F5E2F}"/>
              </a:ext>
            </a:extLst>
          </p:cNvPr>
          <p:cNvSpPr txBox="1"/>
          <p:nvPr/>
        </p:nvSpPr>
        <p:spPr>
          <a:xfrm>
            <a:off x="4616499" y="4197548"/>
            <a:ext cx="29591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تنظيف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البيانات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وتقسيمها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لتدريب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النموذج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بنسبة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82%.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30" name="Google Shape;132;p16" descr="image.png">
            <a:extLst>
              <a:ext uri="{FF2B5EF4-FFF2-40B4-BE49-F238E27FC236}">
                <a16:creationId xmlns:a16="http://schemas.microsoft.com/office/drawing/2014/main" id="{8BE6B147-974F-2B98-B15F-929A8E58717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63949" y="274974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33;p16">
            <a:extLst>
              <a:ext uri="{FF2B5EF4-FFF2-40B4-BE49-F238E27FC236}">
                <a16:creationId xmlns:a16="http://schemas.microsoft.com/office/drawing/2014/main" id="{D28E341E-20AC-DC60-4BAD-5FE299DD7605}"/>
              </a:ext>
            </a:extLst>
          </p:cNvPr>
          <p:cNvSpPr txBox="1"/>
          <p:nvPr/>
        </p:nvSpPr>
        <p:spPr>
          <a:xfrm>
            <a:off x="876448" y="3647151"/>
            <a:ext cx="3106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الخوارزمية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32" name="Google Shape;134;p16">
            <a:extLst>
              <a:ext uri="{FF2B5EF4-FFF2-40B4-BE49-F238E27FC236}">
                <a16:creationId xmlns:a16="http://schemas.microsoft.com/office/drawing/2014/main" id="{55D42AFD-19EE-42C5-A207-C8594261EE05}"/>
              </a:ext>
            </a:extLst>
          </p:cNvPr>
          <p:cNvSpPr txBox="1"/>
          <p:nvPr/>
        </p:nvSpPr>
        <p:spPr>
          <a:xfrm>
            <a:off x="876448" y="4197548"/>
            <a:ext cx="295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اختيار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Random Forest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لقوته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التعامل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مع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البيانات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الطبية</a:t>
            </a:r>
            <a:r>
              <a:rPr lang="en-US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9" name="Google Shape;156;p18" descr="image.png">
            <a:extLst>
              <a:ext uri="{FF2B5EF4-FFF2-40B4-BE49-F238E27FC236}">
                <a16:creationId xmlns:a16="http://schemas.microsoft.com/office/drawing/2014/main" id="{61FABC57-9809-C778-013A-A045FBF90DD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0" y="286335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59;p18" descr="image.png">
            <a:extLst>
              <a:ext uri="{FF2B5EF4-FFF2-40B4-BE49-F238E27FC236}">
                <a16:creationId xmlns:a16="http://schemas.microsoft.com/office/drawing/2014/main" id="{501821DB-FAC8-0CCF-8F05-41F8636D349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88951" y="299963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259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/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/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/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/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pic>
            <p:nvPicPr>
              <p:cNvPr id="12" name="صورة 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/>
          <p:cNvSpPr/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Results and Discussion</a:t>
            </a:r>
            <a:endParaRPr lang="ar-SA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67584" y="1921778"/>
            <a:ext cx="3799625" cy="8248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rtl="0">
              <a:lnSpc>
                <a:spcPct val="115000"/>
              </a:lnSpc>
              <a:spcBef>
                <a:spcPts val="1000"/>
              </a:spcBef>
            </a:pPr>
            <a:r>
              <a:rPr lang="en-US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1. Theoretical Comparison:</a:t>
            </a:r>
          </a:p>
          <a:p>
            <a:pPr algn="just" rtl="0"/>
            <a:r>
              <a:rPr lang="ar-SA" altLang="en-US" sz="2000" b="1" dirty="0">
                <a:latin typeface="Times New Roman" panose="02020603050405020304" charset="0"/>
                <a:cs typeface="Times New Roman" panose="02020603050405020304" charset="0"/>
              </a:rPr>
              <a:t>اختياري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2" name="Google Shape;180;p20">
            <a:extLst>
              <a:ext uri="{FF2B5EF4-FFF2-40B4-BE49-F238E27FC236}">
                <a16:creationId xmlns:a16="http://schemas.microsoft.com/office/drawing/2014/main" id="{42EE4910-1CED-A985-5BB0-7DAC743A77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808363"/>
              </p:ext>
            </p:extLst>
          </p:nvPr>
        </p:nvGraphicFramePr>
        <p:xfrm>
          <a:off x="663529" y="2746619"/>
          <a:ext cx="11162025" cy="3152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17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4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4892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kern="1200" cap="none" dirty="0">
                          <a:solidFill>
                            <a:srgbClr val="F97316"/>
                          </a:solidFill>
                          <a:latin typeface="Cairo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</a:t>
                      </a:r>
                      <a:r>
                        <a:rPr lang="en-US" sz="2000" b="1" i="0" u="none" strike="noStrike" kern="1200" cap="none" dirty="0" err="1">
                          <a:solidFill>
                            <a:srgbClr val="F97316"/>
                          </a:solidFill>
                          <a:latin typeface="Cairo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المعيار</a:t>
                      </a:r>
                      <a:r>
                        <a:rPr lang="en-US" sz="2000" b="1" i="0" u="none" strike="noStrike" kern="1200" cap="none" dirty="0">
                          <a:solidFill>
                            <a:srgbClr val="F97316"/>
                          </a:solidFill>
                          <a:latin typeface="Cairo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</a:t>
                      </a:r>
                      <a:endParaRPr sz="2000" b="1" i="0" u="none" strike="noStrike" kern="1200" cap="none" dirty="0">
                        <a:solidFill>
                          <a:srgbClr val="F97316"/>
                        </a:solidFill>
                        <a:latin typeface="Monotype Koufi" pitchFamily="2" charset="-78"/>
                        <a:ea typeface="Monotype Koufi" pitchFamily="2" charset="-78"/>
                        <a:cs typeface="Monotype Koufi" pitchFamily="2" charset="-78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97316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Random Forest     </a:t>
                      </a:r>
                      <a:endParaRPr sz="20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1" i="0" u="none" strike="noStrike" cap="none" dirty="0">
                          <a:solidFill>
                            <a:srgbClr val="F97316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          </a:t>
                      </a:r>
                      <a:r>
                        <a:rPr lang="en-US" sz="2000" b="1" i="0" u="none" strike="noStrike" cap="none" dirty="0">
                          <a:solidFill>
                            <a:srgbClr val="F97316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Logistic Regression         </a:t>
                      </a:r>
                      <a:endParaRPr sz="20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97316"/>
                          </a:solidFill>
                          <a:cs typeface="Cairo"/>
                          <a:sym typeface="Cairo"/>
                        </a:rPr>
                        <a:t>Gradient  Boosting</a:t>
                      </a:r>
                      <a:endParaRPr sz="20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036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دقة</a:t>
                      </a:r>
                      <a:r>
                        <a:rPr lang="en-US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التنب</a:t>
                      </a:r>
                      <a:r>
                        <a:rPr lang="ar-SA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وء</a:t>
                      </a:r>
                      <a:endParaRPr sz="2000" b="1" i="0" u="none" strike="noStrike" cap="none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Monotype Koufi" pitchFamily="2" charset="-78"/>
                        <a:cs typeface="Monotype Koufi" pitchFamily="2" charset="-78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  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عالية</a:t>
                      </a:r>
                      <a:r>
                        <a:rPr lang="en-US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جداً</a:t>
                      </a:r>
                      <a:endParaRPr sz="2000" b="1" i="0" u="none" strike="noStrike" cap="none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Monotype Koufi" pitchFamily="2" charset="-78"/>
                        <a:cs typeface="Monotype Koufi" pitchFamily="2" charset="-78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متوسطة</a:t>
                      </a:r>
                      <a:endParaRPr sz="2000" b="1" i="0" u="none" strike="noStrike" cap="none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Monotype Koufi" pitchFamily="2" charset="-78"/>
                        <a:cs typeface="Monotype Koufi" pitchFamily="2" charset="-78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عالية</a:t>
                      </a:r>
                      <a:r>
                        <a:rPr lang="en-US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</a:t>
                      </a: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جدا</a:t>
                      </a:r>
                      <a:endParaRPr sz="2000" b="1" i="0" u="none" strike="noStrike" cap="none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Monotype Koufi" pitchFamily="2" charset="-78"/>
                        <a:cs typeface="Monotype Koufi" pitchFamily="2" charset="-78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036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التعامل</a:t>
                      </a:r>
                      <a:r>
                        <a:rPr lang="en-US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مع</a:t>
                      </a:r>
                      <a:r>
                        <a:rPr lang="en-US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Overfitting</a:t>
                      </a:r>
                      <a:endParaRPr sz="2000" b="1" dirty="0">
                        <a:solidFill>
                          <a:srgbClr val="0070C0"/>
                        </a:solidFill>
                        <a:latin typeface="Monotype Koufi" pitchFamily="2" charset="-78"/>
                        <a:ea typeface="Monotype Koufi" pitchFamily="2" charset="-78"/>
                        <a:cs typeface="Monotype Koufi" pitchFamily="2" charset="-78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          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ممتا</a:t>
                      </a: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ز</a:t>
                      </a:r>
                      <a:endParaRPr sz="2000" b="1" dirty="0">
                        <a:solidFill>
                          <a:srgbClr val="0070C0"/>
                        </a:solidFill>
                        <a:latin typeface="Monotype Koufi" pitchFamily="2" charset="-78"/>
                        <a:ea typeface="Monotype Koufi" pitchFamily="2" charset="-78"/>
                        <a:cs typeface="Monotype Koufi" pitchFamily="2" charset="-78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                     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جيد</a:t>
                      </a: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</a:t>
                      </a:r>
                      <a:endParaRPr sz="2000" b="1" dirty="0">
                        <a:solidFill>
                          <a:srgbClr val="0070C0"/>
                        </a:solidFill>
                        <a:latin typeface="Monotype Koufi" pitchFamily="2" charset="-78"/>
                        <a:ea typeface="Monotype Koufi" pitchFamily="2" charset="-78"/>
                        <a:cs typeface="Monotype Koufi" pitchFamily="2" charset="-78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   متوسط</a:t>
                      </a:r>
                      <a:endParaRPr sz="2000" b="1" dirty="0">
                        <a:solidFill>
                          <a:srgbClr val="0070C0"/>
                        </a:solidFill>
                        <a:latin typeface="Monotype Koufi" pitchFamily="2" charset="-78"/>
                        <a:ea typeface="Monotype Koufi" pitchFamily="2" charset="-78"/>
                        <a:cs typeface="Monotype Koufi" pitchFamily="2" charset="-78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036">
                <a:tc>
                  <a:txBody>
                    <a:bodyPr/>
                    <a:lstStyle/>
                    <a:p>
                      <a:pPr marL="0" marR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التعقيد</a:t>
                      </a:r>
                      <a:r>
                        <a:rPr lang="en-US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الحسابي</a:t>
                      </a:r>
                      <a:endParaRPr sz="2000" b="1" i="0" u="none" strike="noStrike" cap="none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Monotype Koufi" pitchFamily="2" charset="-78"/>
                        <a:cs typeface="Monotype Koufi" pitchFamily="2" charset="-78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           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متوسط</a:t>
                      </a:r>
                      <a:endParaRPr sz="2000" b="1" i="0" u="none" strike="noStrike" cap="none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Monotype Koufi" pitchFamily="2" charset="-78"/>
                        <a:cs typeface="Monotype Koufi" pitchFamily="2" charset="-78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                     </a:t>
                      </a:r>
                      <a:r>
                        <a:rPr lang="en-US" sz="2000" b="1" i="0" u="none" strike="noStrike" cap="none" dirty="0" err="1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منخفض</a:t>
                      </a:r>
                      <a:endParaRPr sz="2000" b="1" i="0" u="none" strike="noStrike" cap="none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Monotype Koufi" pitchFamily="2" charset="-78"/>
                        <a:cs typeface="Monotype Koufi" pitchFamily="2" charset="-78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2000" b="1" i="0" u="none" strike="noStrike" cap="none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ea typeface="Monotype Koufi" pitchFamily="2" charset="-78"/>
                          <a:cs typeface="Monotype Koufi" pitchFamily="2" charset="-78"/>
                          <a:sym typeface="Cairo"/>
                        </a:rPr>
                        <a:t>                           متوسط  </a:t>
                      </a:r>
                      <a:endParaRPr sz="2000" b="1" i="0" u="none" strike="noStrike" cap="none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Monotype Koufi" pitchFamily="2" charset="-78"/>
                        <a:cs typeface="Monotype Koufi" pitchFamily="2" charset="-78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A4E4B-8C02-4448-BE67-E6996BA5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>
            <a:extLst>
              <a:ext uri="{FF2B5EF4-FFF2-40B4-BE49-F238E27FC236}">
                <a16:creationId xmlns:a16="http://schemas.microsoft.com/office/drawing/2014/main" id="{1CFBC1DF-F422-26B0-4801-4E040CCB4174}"/>
              </a:ext>
            </a:extLst>
          </p:cNvPr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>
              <a:extLst>
                <a:ext uri="{FF2B5EF4-FFF2-40B4-BE49-F238E27FC236}">
                  <a16:creationId xmlns:a16="http://schemas.microsoft.com/office/drawing/2014/main" id="{69E88686-B0FA-4041-59C8-A2A46E9D9EE5}"/>
                </a:ext>
              </a:extLst>
            </p:cNvPr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>
              <a:extLst>
                <a:ext uri="{FF2B5EF4-FFF2-40B4-BE49-F238E27FC236}">
                  <a16:creationId xmlns:a16="http://schemas.microsoft.com/office/drawing/2014/main" id="{D090B277-46BA-F8AB-C45B-B506B9549858}"/>
                </a:ext>
              </a:extLst>
            </p:cNvPr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>
                <a:extLst>
                  <a:ext uri="{FF2B5EF4-FFF2-40B4-BE49-F238E27FC236}">
                    <a16:creationId xmlns:a16="http://schemas.microsoft.com/office/drawing/2014/main" id="{B23C3016-1367-AB77-18DC-0561A58F1DB6}"/>
                  </a:ext>
                </a:extLst>
              </p:cNvPr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pic>
            <p:nvPicPr>
              <p:cNvPr id="12" name="صورة 11">
                <a:extLst>
                  <a:ext uri="{FF2B5EF4-FFF2-40B4-BE49-F238E27FC236}">
                    <a16:creationId xmlns:a16="http://schemas.microsoft.com/office/drawing/2014/main" id="{C16BD8BA-4FE6-5745-1F56-D7BC9B116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706B630B-78FB-8E2E-5F74-9BA7A6075261}"/>
              </a:ext>
            </a:extLst>
          </p:cNvPr>
          <p:cNvSpPr/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Results and Discussion</a:t>
            </a:r>
            <a:endParaRPr lang="ar-SA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49B2C540-C7CD-3675-61DF-59C50C19C58A}"/>
              </a:ext>
            </a:extLst>
          </p:cNvPr>
          <p:cNvSpPr txBox="1"/>
          <p:nvPr/>
        </p:nvSpPr>
        <p:spPr>
          <a:xfrm>
            <a:off x="268929" y="1974358"/>
            <a:ext cx="4304967" cy="4830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 rtl="0">
              <a:lnSpc>
                <a:spcPct val="115000"/>
              </a:lnSpc>
              <a:spcBef>
                <a:spcPts val="1000"/>
              </a:spcBef>
              <a:defRPr/>
            </a:pPr>
            <a:r>
              <a:rPr lang="en-US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2. Statistical Findings:</a:t>
            </a:r>
            <a:r>
              <a:rPr lang="ar-SA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اجباري</a:t>
            </a:r>
            <a:endParaRPr lang="en-US" altLang="en-US" sz="2400" b="1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Google Shape;169;p19" descr="image.png">
            <a:extLst>
              <a:ext uri="{FF2B5EF4-FFF2-40B4-BE49-F238E27FC236}">
                <a16:creationId xmlns:a16="http://schemas.microsoft.com/office/drawing/2014/main" id="{74B75612-0B22-B996-63B4-E4B1CCE410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878" y="2457375"/>
            <a:ext cx="10263884" cy="3773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60E29904-0872-4036-2A49-99C322715BA6}"/>
              </a:ext>
            </a:extLst>
          </p:cNvPr>
          <p:cNvSpPr txBox="1"/>
          <p:nvPr/>
        </p:nvSpPr>
        <p:spPr>
          <a:xfrm>
            <a:off x="690878" y="5002440"/>
            <a:ext cx="10045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تفوقت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خوارزمية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ar-SA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Random Forest </a:t>
            </a:r>
            <a:r>
              <a:rPr lang="ar-SA" sz="2000" b="1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بفضل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قدرتها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على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معالجة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العلاقات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غير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الخطية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بين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البيانات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1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الطبية</a:t>
            </a:r>
            <a:r>
              <a:rPr lang="en-US" sz="2000" b="0" i="1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388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6296-DA58-7786-E9C7-0AD8A5BA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>
            <a:extLst>
              <a:ext uri="{FF2B5EF4-FFF2-40B4-BE49-F238E27FC236}">
                <a16:creationId xmlns:a16="http://schemas.microsoft.com/office/drawing/2014/main" id="{4F4E5E6C-CC2F-0904-AA55-B87B6C0E487B}"/>
              </a:ext>
            </a:extLst>
          </p:cNvPr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>
              <a:extLst>
                <a:ext uri="{FF2B5EF4-FFF2-40B4-BE49-F238E27FC236}">
                  <a16:creationId xmlns:a16="http://schemas.microsoft.com/office/drawing/2014/main" id="{7D97BAD6-A13C-98A7-A9E0-E76D4B626307}"/>
                </a:ext>
              </a:extLst>
            </p:cNvPr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>
              <a:extLst>
                <a:ext uri="{FF2B5EF4-FFF2-40B4-BE49-F238E27FC236}">
                  <a16:creationId xmlns:a16="http://schemas.microsoft.com/office/drawing/2014/main" id="{596DFADE-C36E-929C-E5B1-6BBFA5B7633A}"/>
                </a:ext>
              </a:extLst>
            </p:cNvPr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>
                <a:extLst>
                  <a:ext uri="{FF2B5EF4-FFF2-40B4-BE49-F238E27FC236}">
                    <a16:creationId xmlns:a16="http://schemas.microsoft.com/office/drawing/2014/main" id="{F0BD7767-4C2F-87CF-63A8-D51604C76EB1}"/>
                  </a:ext>
                </a:extLst>
              </p:cNvPr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pic>
            <p:nvPicPr>
              <p:cNvPr id="12" name="صورة 11">
                <a:extLst>
                  <a:ext uri="{FF2B5EF4-FFF2-40B4-BE49-F238E27FC236}">
                    <a16:creationId xmlns:a16="http://schemas.microsoft.com/office/drawing/2014/main" id="{DC6622A7-DA8C-E81C-45D0-5793FBE7F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D294BF90-C6F8-3D4B-D1A8-E40C2C8FE7D5}"/>
              </a:ext>
            </a:extLst>
          </p:cNvPr>
          <p:cNvSpPr/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Results and Discussion</a:t>
            </a:r>
            <a:endParaRPr lang="ar-SA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82708113-190A-556F-BD83-3A9A3EAB3650}"/>
              </a:ext>
            </a:extLst>
          </p:cNvPr>
          <p:cNvSpPr txBox="1"/>
          <p:nvPr/>
        </p:nvSpPr>
        <p:spPr>
          <a:xfrm>
            <a:off x="268929" y="1974358"/>
            <a:ext cx="4304967" cy="4830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 rtl="0">
              <a:lnSpc>
                <a:spcPct val="115000"/>
              </a:lnSpc>
              <a:spcBef>
                <a:spcPts val="1000"/>
              </a:spcBef>
              <a:defRPr/>
            </a:pPr>
            <a:r>
              <a:rPr lang="en-US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2. Statistical Findings:</a:t>
            </a:r>
            <a:r>
              <a:rPr lang="ar-SA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اجباري</a:t>
            </a:r>
            <a:endParaRPr lang="en-US" altLang="en-US" sz="2400" b="1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Google Shape;196;p21">
            <a:extLst>
              <a:ext uri="{FF2B5EF4-FFF2-40B4-BE49-F238E27FC236}">
                <a16:creationId xmlns:a16="http://schemas.microsoft.com/office/drawing/2014/main" id="{C84279E6-7D31-3354-1754-5EA6939CFE5B}"/>
              </a:ext>
            </a:extLst>
          </p:cNvPr>
          <p:cNvSpPr txBox="1"/>
          <p:nvPr/>
        </p:nvSpPr>
        <p:spPr>
          <a:xfrm>
            <a:off x="5465852" y="2067298"/>
            <a:ext cx="632541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تقنية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التجميع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: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تجمع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بين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100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شجرة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قرار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لتقليل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نسبة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الخطأ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6" name="Google Shape;197;p21">
            <a:extLst>
              <a:ext uri="{FF2B5EF4-FFF2-40B4-BE49-F238E27FC236}">
                <a16:creationId xmlns:a16="http://schemas.microsoft.com/office/drawing/2014/main" id="{A24F8D0D-0414-E8AC-D3A5-E865C47B02AE}"/>
              </a:ext>
            </a:extLst>
          </p:cNvPr>
          <p:cNvSpPr txBox="1"/>
          <p:nvPr/>
        </p:nvSpPr>
        <p:spPr>
          <a:xfrm>
            <a:off x="6096000" y="2711161"/>
            <a:ext cx="55860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الاستقرار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: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لا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تتأثر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بالقيم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الشاذة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البيانات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الطبية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7" name="Google Shape;198;p21">
            <a:extLst>
              <a:ext uri="{FF2B5EF4-FFF2-40B4-BE49-F238E27FC236}">
                <a16:creationId xmlns:a16="http://schemas.microsoft.com/office/drawing/2014/main" id="{DC5ED9BA-FAA4-7B91-AAFB-C46F4312610D}"/>
              </a:ext>
            </a:extLst>
          </p:cNvPr>
          <p:cNvSpPr txBox="1"/>
          <p:nvPr/>
        </p:nvSpPr>
        <p:spPr>
          <a:xfrm>
            <a:off x="5907640" y="3467137"/>
            <a:ext cx="577439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منع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التخصيص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: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تتجنب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مشكلة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ـ Overfitting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مقارنة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بالخوارزميات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الأخرى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8" name="Google Shape;202;p21">
            <a:extLst>
              <a:ext uri="{FF2B5EF4-FFF2-40B4-BE49-F238E27FC236}">
                <a16:creationId xmlns:a16="http://schemas.microsoft.com/office/drawing/2014/main" id="{06648733-8FAE-B427-FAE8-321293C50AF7}"/>
              </a:ext>
            </a:extLst>
          </p:cNvPr>
          <p:cNvSpPr txBox="1"/>
          <p:nvPr/>
        </p:nvSpPr>
        <p:spPr>
          <a:xfrm>
            <a:off x="6710630" y="701766"/>
            <a:ext cx="5080635" cy="68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لماذا</a:t>
            </a:r>
            <a:r>
              <a:rPr lang="en-US" sz="405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Random Forest؟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9" name="Google Shape;169;p19" descr="image.png">
            <a:extLst>
              <a:ext uri="{FF2B5EF4-FFF2-40B4-BE49-F238E27FC236}">
                <a16:creationId xmlns:a16="http://schemas.microsoft.com/office/drawing/2014/main" id="{1E7EF88A-3B3F-BEFB-1F7D-F50E8EF6A0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966" y="2457375"/>
            <a:ext cx="5264111" cy="3553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348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1EBA0-BD5E-2BC2-09E5-1B534DB42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>
            <a:extLst>
              <a:ext uri="{FF2B5EF4-FFF2-40B4-BE49-F238E27FC236}">
                <a16:creationId xmlns:a16="http://schemas.microsoft.com/office/drawing/2014/main" id="{EB3FD4E6-A811-69C6-3F8E-C264BB8FA25D}"/>
              </a:ext>
            </a:extLst>
          </p:cNvPr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>
              <a:extLst>
                <a:ext uri="{FF2B5EF4-FFF2-40B4-BE49-F238E27FC236}">
                  <a16:creationId xmlns:a16="http://schemas.microsoft.com/office/drawing/2014/main" id="{B5DD6756-7BD3-5C75-6C34-C694CB897B42}"/>
                </a:ext>
              </a:extLst>
            </p:cNvPr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>
              <a:extLst>
                <a:ext uri="{FF2B5EF4-FFF2-40B4-BE49-F238E27FC236}">
                  <a16:creationId xmlns:a16="http://schemas.microsoft.com/office/drawing/2014/main" id="{A9507581-08B4-2756-473F-DB5264142C25}"/>
                </a:ext>
              </a:extLst>
            </p:cNvPr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>
                <a:extLst>
                  <a:ext uri="{FF2B5EF4-FFF2-40B4-BE49-F238E27FC236}">
                    <a16:creationId xmlns:a16="http://schemas.microsoft.com/office/drawing/2014/main" id="{1401B05F-AE0D-7D57-40C9-495BC89A0210}"/>
                  </a:ext>
                </a:extLst>
              </p:cNvPr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pic>
            <p:nvPicPr>
              <p:cNvPr id="12" name="صورة 11">
                <a:extLst>
                  <a:ext uri="{FF2B5EF4-FFF2-40B4-BE49-F238E27FC236}">
                    <a16:creationId xmlns:a16="http://schemas.microsoft.com/office/drawing/2014/main" id="{6271CA28-E464-AF8A-673D-F979BC5FE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1B2287C5-D454-436E-053D-48331833B814}"/>
              </a:ext>
            </a:extLst>
          </p:cNvPr>
          <p:cNvSpPr/>
          <p:nvPr/>
        </p:nvSpPr>
        <p:spPr>
          <a:xfrm flipH="1">
            <a:off x="268929" y="701766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Results and Discussion</a:t>
            </a:r>
            <a:endParaRPr lang="ar-SA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194304C7-2AA9-B519-7473-8367259F63F5}"/>
              </a:ext>
            </a:extLst>
          </p:cNvPr>
          <p:cNvSpPr txBox="1"/>
          <p:nvPr/>
        </p:nvSpPr>
        <p:spPr>
          <a:xfrm>
            <a:off x="268929" y="1974358"/>
            <a:ext cx="4304967" cy="4830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 rtl="0">
              <a:lnSpc>
                <a:spcPct val="115000"/>
              </a:lnSpc>
              <a:spcBef>
                <a:spcPts val="1000"/>
              </a:spcBef>
              <a:defRPr/>
            </a:pPr>
            <a:r>
              <a:rPr lang="en-US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2. Statistical Findings:</a:t>
            </a:r>
            <a:r>
              <a:rPr lang="ar-SA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اجباري</a:t>
            </a:r>
            <a:endParaRPr lang="en-US" altLang="en-US" sz="2400" b="1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9" name="Google Shape;169;p19" descr="image.png">
            <a:extLst>
              <a:ext uri="{FF2B5EF4-FFF2-40B4-BE49-F238E27FC236}">
                <a16:creationId xmlns:a16="http://schemas.microsoft.com/office/drawing/2014/main" id="{2A9B554D-C95D-CF4B-1254-6A20895DFE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966" y="2457375"/>
            <a:ext cx="5264111" cy="3553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2" name="Google Shape;167;p18">
            <a:extLst>
              <a:ext uri="{FF2B5EF4-FFF2-40B4-BE49-F238E27FC236}">
                <a16:creationId xmlns:a16="http://schemas.microsoft.com/office/drawing/2014/main" id="{2BB7B232-961B-978D-3D6C-1FECF972E380}"/>
              </a:ext>
            </a:extLst>
          </p:cNvPr>
          <p:cNvSpPr txBox="1"/>
          <p:nvPr/>
        </p:nvSpPr>
        <p:spPr>
          <a:xfrm>
            <a:off x="6765501" y="1349931"/>
            <a:ext cx="527685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82%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4" name="Google Shape;168;p18">
            <a:extLst>
              <a:ext uri="{FF2B5EF4-FFF2-40B4-BE49-F238E27FC236}">
                <a16:creationId xmlns:a16="http://schemas.microsoft.com/office/drawing/2014/main" id="{B9D14C78-CC07-E012-99CA-15755F779987}"/>
              </a:ext>
            </a:extLst>
          </p:cNvPr>
          <p:cNvSpPr txBox="1"/>
          <p:nvPr/>
        </p:nvSpPr>
        <p:spPr>
          <a:xfrm>
            <a:off x="6567313" y="2680964"/>
            <a:ext cx="52768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دقة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التنبؤ</a:t>
            </a:r>
            <a:r>
              <a:rPr lang="en-US" sz="24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الإجمالية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14" name="Google Shape;169;p18">
            <a:extLst>
              <a:ext uri="{FF2B5EF4-FFF2-40B4-BE49-F238E27FC236}">
                <a16:creationId xmlns:a16="http://schemas.microsoft.com/office/drawing/2014/main" id="{D358B6D8-62C7-1425-D3E0-4A38D319E8A2}"/>
              </a:ext>
            </a:extLst>
          </p:cNvPr>
          <p:cNvSpPr txBox="1"/>
          <p:nvPr/>
        </p:nvSpPr>
        <p:spPr>
          <a:xfrm>
            <a:off x="9049800" y="3535736"/>
            <a:ext cx="27703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كيف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حسبنا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هذه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النسبة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؟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17" name="Google Shape;170;p18">
            <a:extLst>
              <a:ext uri="{FF2B5EF4-FFF2-40B4-BE49-F238E27FC236}">
                <a16:creationId xmlns:a16="http://schemas.microsoft.com/office/drawing/2014/main" id="{5A53F721-2776-724E-BD5E-836400A6D899}"/>
              </a:ext>
            </a:extLst>
          </p:cNvPr>
          <p:cNvSpPr txBox="1"/>
          <p:nvPr/>
        </p:nvSpPr>
        <p:spPr>
          <a:xfrm>
            <a:off x="6567313" y="3928881"/>
            <a:ext cx="52768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تم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تقييم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النموذج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بناءً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على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بيانات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لم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يراها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مسبقاً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(Test Set)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واستخدام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معادلة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الدقة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15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الإحصائية</a:t>
            </a:r>
            <a:r>
              <a:rPr lang="en-US" sz="15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: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18" name="Google Shape;172;p18">
            <a:extLst>
              <a:ext uri="{FF2B5EF4-FFF2-40B4-BE49-F238E27FC236}">
                <a16:creationId xmlns:a16="http://schemas.microsoft.com/office/drawing/2014/main" id="{ED1CD036-E4E3-E46D-51E3-FC675E753182}"/>
              </a:ext>
            </a:extLst>
          </p:cNvPr>
          <p:cNvSpPr txBox="1"/>
          <p:nvPr/>
        </p:nvSpPr>
        <p:spPr>
          <a:xfrm>
            <a:off x="8919784" y="547613"/>
            <a:ext cx="2900362" cy="68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دقة</a:t>
            </a:r>
            <a:r>
              <a:rPr lang="en-US" sz="405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405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النموذج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20" name="صورة 19">
            <a:extLst>
              <a:ext uri="{FF2B5EF4-FFF2-40B4-BE49-F238E27FC236}">
                <a16:creationId xmlns:a16="http://schemas.microsoft.com/office/drawing/2014/main" id="{CBD47B3F-0B25-1D69-C381-2EAE77FE4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400" y="4800019"/>
            <a:ext cx="6225345" cy="72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44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8CCE7-97C7-FF79-4020-7D97A969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>
            <a:extLst>
              <a:ext uri="{FF2B5EF4-FFF2-40B4-BE49-F238E27FC236}">
                <a16:creationId xmlns:a16="http://schemas.microsoft.com/office/drawing/2014/main" id="{9A56F5BB-0CAD-C2E7-488F-6A276F5DB625}"/>
              </a:ext>
            </a:extLst>
          </p:cNvPr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>
              <a:extLst>
                <a:ext uri="{FF2B5EF4-FFF2-40B4-BE49-F238E27FC236}">
                  <a16:creationId xmlns:a16="http://schemas.microsoft.com/office/drawing/2014/main" id="{2839BE40-F353-0C62-3A8A-068E88BB53BE}"/>
                </a:ext>
              </a:extLst>
            </p:cNvPr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>
              <a:extLst>
                <a:ext uri="{FF2B5EF4-FFF2-40B4-BE49-F238E27FC236}">
                  <a16:creationId xmlns:a16="http://schemas.microsoft.com/office/drawing/2014/main" id="{966B6A00-4CA7-9CE3-836F-BB236BE94ABC}"/>
                </a:ext>
              </a:extLst>
            </p:cNvPr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>
                <a:extLst>
                  <a:ext uri="{FF2B5EF4-FFF2-40B4-BE49-F238E27FC236}">
                    <a16:creationId xmlns:a16="http://schemas.microsoft.com/office/drawing/2014/main" id="{3FDF54D6-5BA4-B9D7-DC89-6AD6684F522A}"/>
                  </a:ext>
                </a:extLst>
              </p:cNvPr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pic>
            <p:nvPicPr>
              <p:cNvPr id="12" name="صورة 11">
                <a:extLst>
                  <a:ext uri="{FF2B5EF4-FFF2-40B4-BE49-F238E27FC236}">
                    <a16:creationId xmlns:a16="http://schemas.microsoft.com/office/drawing/2014/main" id="{A896DF40-190F-2B43-525D-16D218977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3AE2354F-0E9B-8FBC-96E3-5B3B09C639E2}"/>
              </a:ext>
            </a:extLst>
          </p:cNvPr>
          <p:cNvSpPr/>
          <p:nvPr/>
        </p:nvSpPr>
        <p:spPr>
          <a:xfrm flipH="1">
            <a:off x="289478" y="441783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Results and Discussion</a:t>
            </a:r>
            <a:endParaRPr lang="ar-SA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A8BDC06F-462C-F239-79B0-B7AD7BECC45D}"/>
              </a:ext>
            </a:extLst>
          </p:cNvPr>
          <p:cNvSpPr txBox="1"/>
          <p:nvPr/>
        </p:nvSpPr>
        <p:spPr>
          <a:xfrm>
            <a:off x="562744" y="1866350"/>
            <a:ext cx="4573858" cy="4830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 rtl="0">
              <a:lnSpc>
                <a:spcPct val="115000"/>
              </a:lnSpc>
              <a:spcBef>
                <a:spcPts val="1000"/>
              </a:spcBef>
              <a:defRPr/>
            </a:pPr>
            <a:r>
              <a:rPr lang="ar-SA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3</a:t>
            </a:r>
            <a:r>
              <a:rPr lang="en-US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. </a:t>
            </a:r>
            <a:r>
              <a:rPr lang="en-US" altLang="en-US" sz="2400" b="1" dirty="0" err="1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Visaulization</a:t>
            </a:r>
            <a:r>
              <a:rPr lang="en-US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:</a:t>
            </a:r>
            <a:r>
              <a:rPr lang="ar-SA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اجباري</a:t>
            </a:r>
            <a:endParaRPr lang="en-US" altLang="en-US" sz="2400" b="1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Google Shape;206;p21">
            <a:extLst>
              <a:ext uri="{FF2B5EF4-FFF2-40B4-BE49-F238E27FC236}">
                <a16:creationId xmlns:a16="http://schemas.microsoft.com/office/drawing/2014/main" id="{98ABAC41-4CA1-F37A-7E07-E53BA7C6C60B}"/>
              </a:ext>
            </a:extLst>
          </p:cNvPr>
          <p:cNvSpPr txBox="1"/>
          <p:nvPr/>
        </p:nvSpPr>
        <p:spPr>
          <a:xfrm>
            <a:off x="8618434" y="2039100"/>
            <a:ext cx="3156067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يظهر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تحليل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الارتباط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أن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أهم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الميزات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المؤثرة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التنبؤ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هي</a:t>
            </a:r>
            <a:r>
              <a:rPr lang="en-US" sz="2000" b="0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: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4" name="Google Shape;209;p21">
            <a:extLst>
              <a:ext uri="{FF2B5EF4-FFF2-40B4-BE49-F238E27FC236}">
                <a16:creationId xmlns:a16="http://schemas.microsoft.com/office/drawing/2014/main" id="{6287ECC5-6D72-5084-3941-5937F35FBDD2}"/>
              </a:ext>
            </a:extLst>
          </p:cNvPr>
          <p:cNvSpPr txBox="1"/>
          <p:nvPr/>
        </p:nvSpPr>
        <p:spPr>
          <a:xfrm>
            <a:off x="7755717" y="3120971"/>
            <a:ext cx="428860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مستوى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الجلوكوز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الدم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(Glucose)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6" name="Google Shape;213;p21">
            <a:extLst>
              <a:ext uri="{FF2B5EF4-FFF2-40B4-BE49-F238E27FC236}">
                <a16:creationId xmlns:a16="http://schemas.microsoft.com/office/drawing/2014/main" id="{33DD513D-5D72-0169-BCDC-2FFB1F831A57}"/>
              </a:ext>
            </a:extLst>
          </p:cNvPr>
          <p:cNvSpPr txBox="1"/>
          <p:nvPr/>
        </p:nvSpPr>
        <p:spPr>
          <a:xfrm>
            <a:off x="9511949" y="4480685"/>
            <a:ext cx="18881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العمر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(Age)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8" name="Google Shape;211;p21">
            <a:extLst>
              <a:ext uri="{FF2B5EF4-FFF2-40B4-BE49-F238E27FC236}">
                <a16:creationId xmlns:a16="http://schemas.microsoft.com/office/drawing/2014/main" id="{E108B468-89FE-4E8E-00D0-B99629EF5E4E}"/>
              </a:ext>
            </a:extLst>
          </p:cNvPr>
          <p:cNvSpPr txBox="1"/>
          <p:nvPr/>
        </p:nvSpPr>
        <p:spPr>
          <a:xfrm>
            <a:off x="8951084" y="3771719"/>
            <a:ext cx="27309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مؤشر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كتلة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الجسم</a:t>
            </a:r>
            <a:r>
              <a:rPr lang="en-US" sz="200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(BMI)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14" name="صورة 13">
            <a:extLst>
              <a:ext uri="{FF2B5EF4-FFF2-40B4-BE49-F238E27FC236}">
                <a16:creationId xmlns:a16="http://schemas.microsoft.com/office/drawing/2014/main" id="{3B908D9C-4298-645F-DB7E-74ABDDD4D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13" y="2337021"/>
            <a:ext cx="7101304" cy="413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85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075F-1885-FBE3-E1AF-C88CCAE2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>
            <a:extLst>
              <a:ext uri="{FF2B5EF4-FFF2-40B4-BE49-F238E27FC236}">
                <a16:creationId xmlns:a16="http://schemas.microsoft.com/office/drawing/2014/main" id="{B9ECAEA4-2437-0784-85B7-A4311E0CD2B4}"/>
              </a:ext>
            </a:extLst>
          </p:cNvPr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>
              <a:extLst>
                <a:ext uri="{FF2B5EF4-FFF2-40B4-BE49-F238E27FC236}">
                  <a16:creationId xmlns:a16="http://schemas.microsoft.com/office/drawing/2014/main" id="{DBC10297-AF0F-BC04-BB30-18472A6692DF}"/>
                </a:ext>
              </a:extLst>
            </p:cNvPr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>
              <a:extLst>
                <a:ext uri="{FF2B5EF4-FFF2-40B4-BE49-F238E27FC236}">
                  <a16:creationId xmlns:a16="http://schemas.microsoft.com/office/drawing/2014/main" id="{0F1DA771-1F51-7F22-D51C-2A9F8272B67D}"/>
                </a:ext>
              </a:extLst>
            </p:cNvPr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>
                <a:extLst>
                  <a:ext uri="{FF2B5EF4-FFF2-40B4-BE49-F238E27FC236}">
                    <a16:creationId xmlns:a16="http://schemas.microsoft.com/office/drawing/2014/main" id="{7A70D553-D449-BAC6-9E9A-A53310D74731}"/>
                  </a:ext>
                </a:extLst>
              </p:cNvPr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pic>
            <p:nvPicPr>
              <p:cNvPr id="12" name="صورة 11">
                <a:extLst>
                  <a:ext uri="{FF2B5EF4-FFF2-40B4-BE49-F238E27FC236}">
                    <a16:creationId xmlns:a16="http://schemas.microsoft.com/office/drawing/2014/main" id="{6CD9C9C5-81AE-84C4-43C9-646DF356A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31FAA690-FC51-C625-77ED-0C6D6D1BAECA}"/>
              </a:ext>
            </a:extLst>
          </p:cNvPr>
          <p:cNvSpPr/>
          <p:nvPr/>
        </p:nvSpPr>
        <p:spPr>
          <a:xfrm flipH="1">
            <a:off x="289478" y="441783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</a:rPr>
              <a:t>Results and Discussion</a:t>
            </a:r>
            <a:endParaRPr lang="ar-SA" alt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EC0060BF-BAAC-7E43-E8F1-3ED97043673D}"/>
              </a:ext>
            </a:extLst>
          </p:cNvPr>
          <p:cNvSpPr txBox="1"/>
          <p:nvPr/>
        </p:nvSpPr>
        <p:spPr>
          <a:xfrm>
            <a:off x="562744" y="1866350"/>
            <a:ext cx="4573858" cy="4830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 rtl="0">
              <a:lnSpc>
                <a:spcPct val="115000"/>
              </a:lnSpc>
              <a:spcBef>
                <a:spcPts val="1000"/>
              </a:spcBef>
              <a:defRPr/>
            </a:pPr>
            <a:r>
              <a:rPr lang="ar-SA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3</a:t>
            </a:r>
            <a:r>
              <a:rPr lang="en-US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. </a:t>
            </a:r>
            <a:r>
              <a:rPr lang="en-US" altLang="en-US" sz="2400" b="1" dirty="0" err="1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Visaulization</a:t>
            </a:r>
            <a:r>
              <a:rPr lang="en-US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:</a:t>
            </a:r>
            <a:r>
              <a:rPr lang="ar-SA" altLang="en-US" sz="2400" b="1" dirty="0">
                <a:solidFill>
                  <a:srgbClr val="4F81BD"/>
                </a:solidFill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اجباري</a:t>
            </a:r>
            <a:endParaRPr lang="en-US" altLang="en-US" sz="2400" b="1" dirty="0">
              <a:solidFill>
                <a:srgbClr val="4F81BD"/>
              </a:solidFill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Google Shape;208;p22" descr="image.png">
            <a:extLst>
              <a:ext uri="{FF2B5EF4-FFF2-40B4-BE49-F238E27FC236}">
                <a16:creationId xmlns:a16="http://schemas.microsoft.com/office/drawing/2014/main" id="{ECEF7959-19B5-6189-EC32-DA7D6CF443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8497" y="2404231"/>
            <a:ext cx="52768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9;p22" descr="image.png">
            <a:extLst>
              <a:ext uri="{FF2B5EF4-FFF2-40B4-BE49-F238E27FC236}">
                <a16:creationId xmlns:a16="http://schemas.microsoft.com/office/drawing/2014/main" id="{23F55FAC-09C6-738A-8828-E7734DF3BB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5397" y="2404231"/>
            <a:ext cx="52768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18;p22">
            <a:extLst>
              <a:ext uri="{FF2B5EF4-FFF2-40B4-BE49-F238E27FC236}">
                <a16:creationId xmlns:a16="http://schemas.microsoft.com/office/drawing/2014/main" id="{79D62CA4-658E-6FCC-651D-B05D3349729F}"/>
              </a:ext>
            </a:extLst>
          </p:cNvPr>
          <p:cNvSpPr txBox="1"/>
          <p:nvPr/>
        </p:nvSpPr>
        <p:spPr>
          <a:xfrm>
            <a:off x="6096000" y="934366"/>
            <a:ext cx="5400675" cy="68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واجهة</a:t>
            </a:r>
            <a:r>
              <a:rPr lang="en-US" sz="405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405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النظام</a:t>
            </a:r>
            <a:r>
              <a:rPr lang="en-US" sz="4050" b="1" i="0" u="none" strike="noStrike" cap="none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4050" b="1" i="0" u="none" strike="noStrike" cap="none" dirty="0" err="1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التفاعلية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13" name="Google Shape;210;p22">
            <a:extLst>
              <a:ext uri="{FF2B5EF4-FFF2-40B4-BE49-F238E27FC236}">
                <a16:creationId xmlns:a16="http://schemas.microsoft.com/office/drawing/2014/main" id="{4BC1B310-936D-C66C-8DFD-350049EC4221}"/>
              </a:ext>
            </a:extLst>
          </p:cNvPr>
          <p:cNvSpPr txBox="1"/>
          <p:nvPr/>
        </p:nvSpPr>
        <p:spPr>
          <a:xfrm>
            <a:off x="6629400" y="2559248"/>
            <a:ext cx="492061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مميزات</a:t>
            </a:r>
            <a:r>
              <a:rPr lang="en-US" sz="2100" b="1" i="0" u="none" strike="noStrike" cap="none" dirty="0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100" b="1" i="0" u="none" strike="noStrike" cap="none" dirty="0" err="1">
                <a:solidFill>
                  <a:srgbClr val="DEFF9A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التطبيق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18" name="Google Shape;211;p22">
            <a:extLst>
              <a:ext uri="{FF2B5EF4-FFF2-40B4-BE49-F238E27FC236}">
                <a16:creationId xmlns:a16="http://schemas.microsoft.com/office/drawing/2014/main" id="{8E592188-40D6-52F6-333A-F252A93FC62E}"/>
              </a:ext>
            </a:extLst>
          </p:cNvPr>
          <p:cNvSpPr txBox="1"/>
          <p:nvPr/>
        </p:nvSpPr>
        <p:spPr>
          <a:xfrm>
            <a:off x="6629400" y="3245048"/>
            <a:ext cx="46863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•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تعريب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كامل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للواجهة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والمدخلات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19" name="Google Shape;212;p22">
            <a:extLst>
              <a:ext uri="{FF2B5EF4-FFF2-40B4-BE49-F238E27FC236}">
                <a16:creationId xmlns:a16="http://schemas.microsoft.com/office/drawing/2014/main" id="{271B28D7-A911-EBDC-C802-6F463027A9E2}"/>
              </a:ext>
            </a:extLst>
          </p:cNvPr>
          <p:cNvSpPr txBox="1"/>
          <p:nvPr/>
        </p:nvSpPr>
        <p:spPr>
          <a:xfrm>
            <a:off x="6629400" y="3721298"/>
            <a:ext cx="46863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•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يعمل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"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أوفلاين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"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بدون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الحاجة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للإنترنت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20" name="Google Shape;213;p22">
            <a:extLst>
              <a:ext uri="{FF2B5EF4-FFF2-40B4-BE49-F238E27FC236}">
                <a16:creationId xmlns:a16="http://schemas.microsoft.com/office/drawing/2014/main" id="{5A348223-E9DD-1623-8A5D-9AB5149A9066}"/>
              </a:ext>
            </a:extLst>
          </p:cNvPr>
          <p:cNvSpPr txBox="1"/>
          <p:nvPr/>
        </p:nvSpPr>
        <p:spPr>
          <a:xfrm>
            <a:off x="6629400" y="4197548"/>
            <a:ext cx="46863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•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توضيح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المديات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والقيم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المثالية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للمستخدم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21" name="Google Shape;214;p22">
            <a:extLst>
              <a:ext uri="{FF2B5EF4-FFF2-40B4-BE49-F238E27FC236}">
                <a16:creationId xmlns:a16="http://schemas.microsoft.com/office/drawing/2014/main" id="{C47725F5-3CB4-B263-3165-309773B5B5C0}"/>
              </a:ext>
            </a:extLst>
          </p:cNvPr>
          <p:cNvSpPr txBox="1"/>
          <p:nvPr/>
        </p:nvSpPr>
        <p:spPr>
          <a:xfrm>
            <a:off x="6629400" y="4673798"/>
            <a:ext cx="46863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•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سرعة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استجابة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فائقة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ar-SA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(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تنبؤ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فوري</a:t>
            </a:r>
            <a:r>
              <a:rPr lang="ar-SA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)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22" name="Google Shape;215;p22">
            <a:extLst>
              <a:ext uri="{FF2B5EF4-FFF2-40B4-BE49-F238E27FC236}">
                <a16:creationId xmlns:a16="http://schemas.microsoft.com/office/drawing/2014/main" id="{76E9777C-C6CF-BA9B-1631-6109872073DB}"/>
              </a:ext>
            </a:extLst>
          </p:cNvPr>
          <p:cNvSpPr txBox="1"/>
          <p:nvPr/>
        </p:nvSpPr>
        <p:spPr>
          <a:xfrm>
            <a:off x="766645" y="2919344"/>
            <a:ext cx="41444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[INPUT] </a:t>
            </a:r>
            <a:r>
              <a:rPr lang="en-US" b="0" i="0" u="none" strike="noStrike" cap="none" dirty="0" err="1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مستوى</a:t>
            </a:r>
            <a:r>
              <a:rPr lang="en-US" b="0" i="0" u="none" strike="noStrike" cap="none" dirty="0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 </a:t>
            </a:r>
            <a:r>
              <a:rPr lang="en-US" b="0" i="0" u="none" strike="noStrike" cap="none" dirty="0" err="1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الجلوكوز</a:t>
            </a:r>
            <a:r>
              <a:rPr lang="en-US" b="0" i="0" u="none" strike="noStrike" cap="none" dirty="0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: 120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23" name="Google Shape;216;p22">
            <a:extLst>
              <a:ext uri="{FF2B5EF4-FFF2-40B4-BE49-F238E27FC236}">
                <a16:creationId xmlns:a16="http://schemas.microsoft.com/office/drawing/2014/main" id="{D28DD507-ADE5-B633-4F60-90DE27A79874}"/>
              </a:ext>
            </a:extLst>
          </p:cNvPr>
          <p:cNvSpPr txBox="1"/>
          <p:nvPr/>
        </p:nvSpPr>
        <p:spPr>
          <a:xfrm>
            <a:off x="766645" y="3395594"/>
            <a:ext cx="389782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[INPUT] </a:t>
            </a:r>
            <a:r>
              <a:rPr lang="en-US" b="0" i="0" u="none" strike="noStrike" cap="none" dirty="0" err="1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مؤشر</a:t>
            </a:r>
            <a:r>
              <a:rPr lang="en-US" b="0" i="0" u="none" strike="noStrike" cap="none" dirty="0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 </a:t>
            </a:r>
            <a:r>
              <a:rPr lang="en-US" b="0" i="0" u="none" strike="noStrike" cap="none" dirty="0" err="1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كتلة</a:t>
            </a:r>
            <a:r>
              <a:rPr lang="en-US" b="0" i="0" u="none" strike="noStrike" cap="none" dirty="0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 </a:t>
            </a:r>
            <a:r>
              <a:rPr lang="en-US" b="0" i="0" u="none" strike="noStrike" cap="none" dirty="0" err="1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الجسم</a:t>
            </a:r>
            <a:r>
              <a:rPr lang="en-US" b="0" i="0" u="none" strike="noStrike" cap="none" dirty="0">
                <a:solidFill>
                  <a:srgbClr val="DEFF9A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: 28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24" name="Google Shape;217;p22">
            <a:extLst>
              <a:ext uri="{FF2B5EF4-FFF2-40B4-BE49-F238E27FC236}">
                <a16:creationId xmlns:a16="http://schemas.microsoft.com/office/drawing/2014/main" id="{3B0DF22B-BDD2-D677-609B-272FC54FD506}"/>
              </a:ext>
            </a:extLst>
          </p:cNvPr>
          <p:cNvSpPr txBox="1"/>
          <p:nvPr/>
        </p:nvSpPr>
        <p:spPr>
          <a:xfrm>
            <a:off x="766645" y="3871844"/>
            <a:ext cx="41444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FFFFFF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[RESULT]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النتيجة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: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سليم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غالباً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ourier New"/>
                <a:ea typeface="Monotype Koufi" pitchFamily="2" charset="-78"/>
                <a:cs typeface="Monotype Koufi" pitchFamily="2" charset="-78"/>
                <a:sym typeface="Courier New"/>
              </a:rPr>
              <a:t> (89%)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034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/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/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/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/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/>
          <p:cNvSpPr/>
          <p:nvPr/>
        </p:nvSpPr>
        <p:spPr>
          <a:xfrm>
            <a:off x="290195" y="999490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Conclusions</a:t>
            </a:r>
            <a:endParaRPr kumimoji="0" lang="ar-SA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pic>
        <p:nvPicPr>
          <p:cNvPr id="2" name="Google Shape;221;p22" descr="image.png">
            <a:extLst>
              <a:ext uri="{FF2B5EF4-FFF2-40B4-BE49-F238E27FC236}">
                <a16:creationId xmlns:a16="http://schemas.microsoft.com/office/drawing/2014/main" id="{621F7E1A-4245-885F-2601-136282B6FF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07369"/>
            <a:ext cx="11049000" cy="23848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</p:pic>
      <p:sp>
        <p:nvSpPr>
          <p:cNvPr id="4" name="Google Shape;223;p22">
            <a:extLst>
              <a:ext uri="{FF2B5EF4-FFF2-40B4-BE49-F238E27FC236}">
                <a16:creationId xmlns:a16="http://schemas.microsoft.com/office/drawing/2014/main" id="{CA736008-141A-4F32-50DB-164D474F6AE7}"/>
              </a:ext>
            </a:extLst>
          </p:cNvPr>
          <p:cNvSpPr txBox="1"/>
          <p:nvPr/>
        </p:nvSpPr>
        <p:spPr>
          <a:xfrm>
            <a:off x="971550" y="3712219"/>
            <a:ext cx="102489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"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أثبت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النظام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قدرته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على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تحديد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الحالات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المعرضة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للخطر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بدقة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تصل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إلى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82%،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مما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يجعله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أداة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واعدة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لتعزيز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الرعاية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الصحية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400" b="0" i="0" u="none" strike="noStrike" cap="none" dirty="0" err="1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الرقمية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47371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3ABC-5E19-D4A3-E592-28079F46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>
            <a:extLst>
              <a:ext uri="{FF2B5EF4-FFF2-40B4-BE49-F238E27FC236}">
                <a16:creationId xmlns:a16="http://schemas.microsoft.com/office/drawing/2014/main" id="{9081F536-7DDE-59D8-0FE3-A19EED6846CD}"/>
              </a:ext>
            </a:extLst>
          </p:cNvPr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>
              <a:extLst>
                <a:ext uri="{FF2B5EF4-FFF2-40B4-BE49-F238E27FC236}">
                  <a16:creationId xmlns:a16="http://schemas.microsoft.com/office/drawing/2014/main" id="{8D8F2D37-04BE-D310-55D7-9828401B2EBD}"/>
                </a:ext>
              </a:extLst>
            </p:cNvPr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>
              <a:extLst>
                <a:ext uri="{FF2B5EF4-FFF2-40B4-BE49-F238E27FC236}">
                  <a16:creationId xmlns:a16="http://schemas.microsoft.com/office/drawing/2014/main" id="{F1BD5418-79AF-7689-A460-1D3725980B98}"/>
                </a:ext>
              </a:extLst>
            </p:cNvPr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>
                <a:extLst>
                  <a:ext uri="{FF2B5EF4-FFF2-40B4-BE49-F238E27FC236}">
                    <a16:creationId xmlns:a16="http://schemas.microsoft.com/office/drawing/2014/main" id="{3E277FBD-42EC-071A-BA60-266ADE4BA946}"/>
                  </a:ext>
                </a:extLst>
              </p:cNvPr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>
                <a:extLst>
                  <a:ext uri="{FF2B5EF4-FFF2-40B4-BE49-F238E27FC236}">
                    <a16:creationId xmlns:a16="http://schemas.microsoft.com/office/drawing/2014/main" id="{CA9A635A-6012-0444-52AC-E649110FAE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26C78EE3-5B94-9444-700F-BD25894F8397}"/>
              </a:ext>
            </a:extLst>
          </p:cNvPr>
          <p:cNvSpPr/>
          <p:nvPr/>
        </p:nvSpPr>
        <p:spPr>
          <a:xfrm>
            <a:off x="249098" y="254833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Conclusions</a:t>
            </a:r>
            <a:endParaRPr kumimoji="0" lang="ar-SA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pic>
        <p:nvPicPr>
          <p:cNvPr id="2" name="Google Shape;221;p22" descr="image.png">
            <a:extLst>
              <a:ext uri="{FF2B5EF4-FFF2-40B4-BE49-F238E27FC236}">
                <a16:creationId xmlns:a16="http://schemas.microsoft.com/office/drawing/2014/main" id="{7C404202-F75C-910A-90CE-4DE40200F2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1860" y="578186"/>
            <a:ext cx="5486400" cy="83044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</p:pic>
      <p:sp>
        <p:nvSpPr>
          <p:cNvPr id="4" name="Google Shape;223;p22">
            <a:extLst>
              <a:ext uri="{FF2B5EF4-FFF2-40B4-BE49-F238E27FC236}">
                <a16:creationId xmlns:a16="http://schemas.microsoft.com/office/drawing/2014/main" id="{7019AD22-2EC2-A885-41C7-88E516E17139}"/>
              </a:ext>
            </a:extLst>
          </p:cNvPr>
          <p:cNvSpPr txBox="1"/>
          <p:nvPr/>
        </p:nvSpPr>
        <p:spPr>
          <a:xfrm>
            <a:off x="5431340" y="698167"/>
            <a:ext cx="309621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400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صور من التطبيق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A5A2FBB5-F18C-DCAD-DFA0-47BDF12E1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332" y="1658156"/>
            <a:ext cx="7960759" cy="456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66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61263-737F-1966-BE7A-3EF804ED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>
            <a:extLst>
              <a:ext uri="{FF2B5EF4-FFF2-40B4-BE49-F238E27FC236}">
                <a16:creationId xmlns:a16="http://schemas.microsoft.com/office/drawing/2014/main" id="{03E2DD2E-0D22-2376-4069-627A3278A4E0}"/>
              </a:ext>
            </a:extLst>
          </p:cNvPr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>
              <a:extLst>
                <a:ext uri="{FF2B5EF4-FFF2-40B4-BE49-F238E27FC236}">
                  <a16:creationId xmlns:a16="http://schemas.microsoft.com/office/drawing/2014/main" id="{B07068D0-032B-49FA-6953-2413690C9F42}"/>
                </a:ext>
              </a:extLst>
            </p:cNvPr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>
              <a:extLst>
                <a:ext uri="{FF2B5EF4-FFF2-40B4-BE49-F238E27FC236}">
                  <a16:creationId xmlns:a16="http://schemas.microsoft.com/office/drawing/2014/main" id="{5B79F5BD-A76C-0592-3138-C25028E64C01}"/>
                </a:ext>
              </a:extLst>
            </p:cNvPr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>
                <a:extLst>
                  <a:ext uri="{FF2B5EF4-FFF2-40B4-BE49-F238E27FC236}">
                    <a16:creationId xmlns:a16="http://schemas.microsoft.com/office/drawing/2014/main" id="{161DC542-C45E-F6F1-7CCC-91FD3A915908}"/>
                  </a:ext>
                </a:extLst>
              </p:cNvPr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>
                <a:extLst>
                  <a:ext uri="{FF2B5EF4-FFF2-40B4-BE49-F238E27FC236}">
                    <a16:creationId xmlns:a16="http://schemas.microsoft.com/office/drawing/2014/main" id="{25958D5E-FEC6-02B6-D83F-C95E35F05C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CB152557-8C33-1A50-A95D-C94B00F677E0}"/>
              </a:ext>
            </a:extLst>
          </p:cNvPr>
          <p:cNvSpPr/>
          <p:nvPr/>
        </p:nvSpPr>
        <p:spPr>
          <a:xfrm>
            <a:off x="249098" y="254833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Conclusions</a:t>
            </a:r>
            <a:endParaRPr kumimoji="0" lang="ar-SA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pic>
        <p:nvPicPr>
          <p:cNvPr id="2" name="Google Shape;221;p22" descr="image.png">
            <a:extLst>
              <a:ext uri="{FF2B5EF4-FFF2-40B4-BE49-F238E27FC236}">
                <a16:creationId xmlns:a16="http://schemas.microsoft.com/office/drawing/2014/main" id="{00A72185-8395-2E7F-EC7D-77A3D85C42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1860" y="578186"/>
            <a:ext cx="5486400" cy="83044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</p:pic>
      <p:sp>
        <p:nvSpPr>
          <p:cNvPr id="4" name="Google Shape;223;p22">
            <a:extLst>
              <a:ext uri="{FF2B5EF4-FFF2-40B4-BE49-F238E27FC236}">
                <a16:creationId xmlns:a16="http://schemas.microsoft.com/office/drawing/2014/main" id="{F86E1EB2-9293-4813-776B-DE7CA62C5530}"/>
              </a:ext>
            </a:extLst>
          </p:cNvPr>
          <p:cNvSpPr txBox="1"/>
          <p:nvPr/>
        </p:nvSpPr>
        <p:spPr>
          <a:xfrm>
            <a:off x="5431340" y="698167"/>
            <a:ext cx="309621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400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صور من التطبيق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E4160304-38A2-3072-A09F-83E37BCAD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508" y="1528610"/>
            <a:ext cx="9057602" cy="463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4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B4EA-1217-7D5F-5E61-0B935A71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>
            <a:extLst>
              <a:ext uri="{FF2B5EF4-FFF2-40B4-BE49-F238E27FC236}">
                <a16:creationId xmlns:a16="http://schemas.microsoft.com/office/drawing/2014/main" id="{B6246BC2-8D21-3C63-1629-36A74C552C1D}"/>
              </a:ext>
            </a:extLst>
          </p:cNvPr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>
              <a:extLst>
                <a:ext uri="{FF2B5EF4-FFF2-40B4-BE49-F238E27FC236}">
                  <a16:creationId xmlns:a16="http://schemas.microsoft.com/office/drawing/2014/main" id="{50A65FEE-1232-1C29-E35E-1A16DF621D0C}"/>
                </a:ext>
              </a:extLst>
            </p:cNvPr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>
              <a:extLst>
                <a:ext uri="{FF2B5EF4-FFF2-40B4-BE49-F238E27FC236}">
                  <a16:creationId xmlns:a16="http://schemas.microsoft.com/office/drawing/2014/main" id="{01027336-6CEF-2F63-F184-E24627DA9843}"/>
                </a:ext>
              </a:extLst>
            </p:cNvPr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>
                <a:extLst>
                  <a:ext uri="{FF2B5EF4-FFF2-40B4-BE49-F238E27FC236}">
                    <a16:creationId xmlns:a16="http://schemas.microsoft.com/office/drawing/2014/main" id="{11E6B6F6-0857-E34A-320A-AC96F1CD6857}"/>
                  </a:ext>
                </a:extLst>
              </p:cNvPr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>
                <a:extLst>
                  <a:ext uri="{FF2B5EF4-FFF2-40B4-BE49-F238E27FC236}">
                    <a16:creationId xmlns:a16="http://schemas.microsoft.com/office/drawing/2014/main" id="{C434975A-D1EA-4885-C88A-569AFF8213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>
            <a:extLst>
              <a:ext uri="{FF2B5EF4-FFF2-40B4-BE49-F238E27FC236}">
                <a16:creationId xmlns:a16="http://schemas.microsoft.com/office/drawing/2014/main" id="{6DAC7A56-124B-1830-C79C-85E972935B64}"/>
              </a:ext>
            </a:extLst>
          </p:cNvPr>
          <p:cNvSpPr/>
          <p:nvPr/>
        </p:nvSpPr>
        <p:spPr>
          <a:xfrm>
            <a:off x="249098" y="254833"/>
            <a:ext cx="3483610" cy="115379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Conclusions</a:t>
            </a:r>
            <a:endParaRPr kumimoji="0" lang="ar-SA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pic>
        <p:nvPicPr>
          <p:cNvPr id="2" name="Google Shape;221;p22" descr="image.png">
            <a:extLst>
              <a:ext uri="{FF2B5EF4-FFF2-40B4-BE49-F238E27FC236}">
                <a16:creationId xmlns:a16="http://schemas.microsoft.com/office/drawing/2014/main" id="{622F3A31-A549-EBF4-72AB-A95D2A1FDF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1860" y="578186"/>
            <a:ext cx="5486400" cy="83044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</p:pic>
      <p:sp>
        <p:nvSpPr>
          <p:cNvPr id="4" name="Google Shape;223;p22">
            <a:extLst>
              <a:ext uri="{FF2B5EF4-FFF2-40B4-BE49-F238E27FC236}">
                <a16:creationId xmlns:a16="http://schemas.microsoft.com/office/drawing/2014/main" id="{DACF1B3E-8B00-151A-2DC2-F334F47E4190}"/>
              </a:ext>
            </a:extLst>
          </p:cNvPr>
          <p:cNvSpPr txBox="1"/>
          <p:nvPr/>
        </p:nvSpPr>
        <p:spPr>
          <a:xfrm>
            <a:off x="5431340" y="698167"/>
            <a:ext cx="309621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400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صور من التطبيق</a:t>
            </a:r>
            <a:r>
              <a:rPr lang="en-US" sz="2400" b="0" i="0" u="none" strike="noStrike" cap="none" dirty="0">
                <a:solidFill>
                  <a:srgbClr val="F1F5F9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41EF0F6D-2A5E-ECF4-CFA0-5D0757ABE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58" y="1408628"/>
            <a:ext cx="9667982" cy="461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347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/>
          <p:cNvGrpSpPr/>
          <p:nvPr/>
        </p:nvGrpSpPr>
        <p:grpSpPr>
          <a:xfrm>
            <a:off x="975950" y="5898618"/>
            <a:ext cx="11098795" cy="939310"/>
            <a:chOff x="975950" y="5898618"/>
            <a:chExt cx="11098795" cy="939310"/>
          </a:xfrm>
        </p:grpSpPr>
        <p:sp>
          <p:nvSpPr>
            <p:cNvPr id="3" name="شبه منحرف 1"/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/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/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ar-SA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صورة 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6" name="مخطط انسيابي: بيانات مخزّنة 15"/>
          <p:cNvSpPr/>
          <p:nvPr/>
        </p:nvSpPr>
        <p:spPr>
          <a:xfrm>
            <a:off x="116769" y="789276"/>
            <a:ext cx="4344035" cy="1159094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Recommendations</a:t>
            </a:r>
            <a:endParaRPr kumimoji="0" lang="ar-SA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pic>
        <p:nvPicPr>
          <p:cNvPr id="6" name="Google Shape;233;p23" descr="image.png">
            <a:extLst>
              <a:ext uri="{FF2B5EF4-FFF2-40B4-BE49-F238E27FC236}">
                <a16:creationId xmlns:a16="http://schemas.microsoft.com/office/drawing/2014/main" id="{880977D6-C623-0F9D-97AB-AF187D04BE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144" y="2123139"/>
            <a:ext cx="4161034" cy="3775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5;p23" descr="image.png">
            <a:extLst>
              <a:ext uri="{FF2B5EF4-FFF2-40B4-BE49-F238E27FC236}">
                <a16:creationId xmlns:a16="http://schemas.microsoft.com/office/drawing/2014/main" id="{D12261DB-E23B-9C83-4A26-6301DF2516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5290" y="2246321"/>
            <a:ext cx="719811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7;p23">
            <a:extLst>
              <a:ext uri="{FF2B5EF4-FFF2-40B4-BE49-F238E27FC236}">
                <a16:creationId xmlns:a16="http://schemas.microsoft.com/office/drawing/2014/main" id="{8FB99A82-9B47-7501-2515-9663FFA417FC}"/>
              </a:ext>
            </a:extLst>
          </p:cNvPr>
          <p:cNvSpPr txBox="1"/>
          <p:nvPr/>
        </p:nvSpPr>
        <p:spPr>
          <a:xfrm>
            <a:off x="5022342" y="2623997"/>
            <a:ext cx="65268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•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نجح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النظام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تحقيق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دقة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تشخيصية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عالية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تساهم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الرعاية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الوقائية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9" name="Google Shape;228;p23">
            <a:extLst>
              <a:ext uri="{FF2B5EF4-FFF2-40B4-BE49-F238E27FC236}">
                <a16:creationId xmlns:a16="http://schemas.microsoft.com/office/drawing/2014/main" id="{6B6FB49E-DBE4-5EE0-8A1A-DD87EE4BE23D}"/>
              </a:ext>
            </a:extLst>
          </p:cNvPr>
          <p:cNvSpPr txBox="1"/>
          <p:nvPr/>
        </p:nvSpPr>
        <p:spPr>
          <a:xfrm>
            <a:off x="5022342" y="3418794"/>
            <a:ext cx="65268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•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نوصي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بدمج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النظام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في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المستشفيات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والمراكز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الصحية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كأداة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مساعدة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  <p:sp>
        <p:nvSpPr>
          <p:cNvPr id="13" name="Google Shape;229;p23">
            <a:extLst>
              <a:ext uri="{FF2B5EF4-FFF2-40B4-BE49-F238E27FC236}">
                <a16:creationId xmlns:a16="http://schemas.microsoft.com/office/drawing/2014/main" id="{04252DDC-5D87-73AC-9F49-C6D0B85EAB8B}"/>
              </a:ext>
            </a:extLst>
          </p:cNvPr>
          <p:cNvSpPr txBox="1"/>
          <p:nvPr/>
        </p:nvSpPr>
        <p:spPr>
          <a:xfrm>
            <a:off x="5022342" y="3862247"/>
            <a:ext cx="65268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•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التطلع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المستقبلي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: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توسيع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قاعدة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البيانات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لتشمل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الفئات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العمرية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الأقل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من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21 </a:t>
            </a:r>
            <a:r>
              <a:rPr lang="en-US" sz="2000" b="0" i="0" u="none" strike="noStrike" cap="none" dirty="0" err="1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عاماً</a:t>
            </a:r>
            <a:r>
              <a:rPr lang="en-US" sz="2000" b="0" i="0" u="none" strike="noStrike" cap="none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.</a:t>
            </a:r>
            <a:endParaRPr sz="2000"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57637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مجموعة 14"/>
          <p:cNvGrpSpPr/>
          <p:nvPr/>
        </p:nvGrpSpPr>
        <p:grpSpPr>
          <a:xfrm>
            <a:off x="1006773" y="5858510"/>
            <a:ext cx="11098795" cy="939310"/>
            <a:chOff x="975950" y="5898618"/>
            <a:chExt cx="11098795" cy="939310"/>
          </a:xfrm>
        </p:grpSpPr>
        <p:sp>
          <p:nvSpPr>
            <p:cNvPr id="3" name="شبه منحرف 1"/>
            <p:cNvSpPr/>
            <p:nvPr/>
          </p:nvSpPr>
          <p:spPr>
            <a:xfrm>
              <a:off x="975950" y="6468595"/>
              <a:ext cx="10424160" cy="369333"/>
            </a:xfrm>
            <a:prstGeom prst="trapezoid">
              <a:avLst>
                <a:gd name="adj" fmla="val 80941"/>
              </a:avLst>
            </a:prstGeom>
            <a:solidFill>
              <a:srgbClr val="D8754A"/>
            </a:solidFill>
            <a:ln w="38100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1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ar-SA" sz="1865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  <a:sym typeface="Arial" panose="020B0604020202020204"/>
              </a:endParaRPr>
            </a:p>
          </p:txBody>
        </p:sp>
        <p:grpSp>
          <p:nvGrpSpPr>
            <p:cNvPr id="10" name="مجموعة 9"/>
            <p:cNvGrpSpPr/>
            <p:nvPr/>
          </p:nvGrpSpPr>
          <p:grpSpPr>
            <a:xfrm>
              <a:off x="11289323" y="5898618"/>
              <a:ext cx="785422" cy="894272"/>
              <a:chOff x="10709031" y="226848"/>
              <a:chExt cx="1279011" cy="1342144"/>
            </a:xfrm>
          </p:grpSpPr>
          <p:sp>
            <p:nvSpPr>
              <p:cNvPr id="11" name="مخطط انسيابي: مهلة 10"/>
              <p:cNvSpPr/>
              <p:nvPr/>
            </p:nvSpPr>
            <p:spPr>
              <a:xfrm rot="5400000">
                <a:off x="10677465" y="258414"/>
                <a:ext cx="1342144" cy="1279011"/>
              </a:xfrm>
              <a:prstGeom prst="flowChartDelay">
                <a:avLst/>
              </a:prstGeom>
              <a:solidFill>
                <a:schemeClr val="bg1"/>
              </a:solidFill>
              <a:ln w="38100">
                <a:gradFill flip="none" rotWithShape="1">
                  <a:gsLst>
                    <a:gs pos="0">
                      <a:schemeClr val="tx1"/>
                    </a:gs>
                    <a:gs pos="52000">
                      <a:srgbClr val="FFC000"/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chemeClr val="tx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/>
              </a:p>
            </p:txBody>
          </p:sp>
          <p:pic>
            <p:nvPicPr>
              <p:cNvPr id="12" name="صورة 1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2" t="9517" r="18315" b="26183"/>
              <a:stretch>
                <a:fillRect/>
              </a:stretch>
            </p:blipFill>
            <p:spPr>
              <a:xfrm>
                <a:off x="10764546" y="269521"/>
                <a:ext cx="1170744" cy="1263969"/>
              </a:xfrm>
              <a:custGeom>
                <a:avLst/>
                <a:gdLst>
                  <a:gd name="connsiteX0" fmla="*/ 0 w 1469070"/>
                  <a:gd name="connsiteY0" fmla="*/ 0 h 1589924"/>
                  <a:gd name="connsiteX1" fmla="*/ 1469070 w 1469070"/>
                  <a:gd name="connsiteY1" fmla="*/ 0 h 1589924"/>
                  <a:gd name="connsiteX2" fmla="*/ 1469070 w 1469070"/>
                  <a:gd name="connsiteY2" fmla="*/ 974070 h 1589924"/>
                  <a:gd name="connsiteX3" fmla="*/ 1294364 w 1469070"/>
                  <a:gd name="connsiteY3" fmla="*/ 1353187 h 1589924"/>
                  <a:gd name="connsiteX4" fmla="*/ 803145 w 1469070"/>
                  <a:gd name="connsiteY4" fmla="*/ 1589924 h 1589924"/>
                  <a:gd name="connsiteX5" fmla="*/ 669018 w 1469070"/>
                  <a:gd name="connsiteY5" fmla="*/ 1589924 h 1589924"/>
                  <a:gd name="connsiteX6" fmla="*/ 169558 w 1469070"/>
                  <a:gd name="connsiteY6" fmla="*/ 1337861 h 1589924"/>
                  <a:gd name="connsiteX7" fmla="*/ 0 w 1469070"/>
                  <a:gd name="connsiteY7" fmla="*/ 1076870 h 158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9070" h="1589924">
                    <a:moveTo>
                      <a:pt x="0" y="0"/>
                    </a:moveTo>
                    <a:lnTo>
                      <a:pt x="1469070" y="0"/>
                    </a:lnTo>
                    <a:lnTo>
                      <a:pt x="1469070" y="974070"/>
                    </a:lnTo>
                    <a:lnTo>
                      <a:pt x="1294364" y="1353187"/>
                    </a:lnTo>
                    <a:lnTo>
                      <a:pt x="803145" y="1589924"/>
                    </a:lnTo>
                    <a:lnTo>
                      <a:pt x="669018" y="1589924"/>
                    </a:lnTo>
                    <a:lnTo>
                      <a:pt x="169558" y="1337861"/>
                    </a:lnTo>
                    <a:lnTo>
                      <a:pt x="0" y="1076870"/>
                    </a:lnTo>
                    <a:close/>
                  </a:path>
                </a:pathLst>
              </a:custGeom>
            </p:spPr>
          </p:pic>
        </p:grpSp>
      </p:grpSp>
      <p:pic>
        <p:nvPicPr>
          <p:cNvPr id="19" name="صورة 18" descr="صورة تحتوي على رسم, قصاصة فنية, رسوم متحركة, توضيح&#10;&#10;قد يكون المحتوى الذي تم إنشاؤه بواسطة الذكاء الاصطناعي غير صحيح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125" y="1079053"/>
            <a:ext cx="3865956" cy="4515759"/>
          </a:xfrm>
          <a:prstGeom prst="rect">
            <a:avLst/>
          </a:prstGeom>
        </p:spPr>
      </p:pic>
      <p:sp>
        <p:nvSpPr>
          <p:cNvPr id="16" name="مخطط انسيابي: بيانات مخزّنة 15"/>
          <p:cNvSpPr/>
          <p:nvPr/>
        </p:nvSpPr>
        <p:spPr>
          <a:xfrm flipH="1">
            <a:off x="290195" y="999490"/>
            <a:ext cx="4538980" cy="1489075"/>
          </a:xfrm>
          <a:prstGeom prst="flowChartOnlineStorage">
            <a:avLst/>
          </a:prstGeom>
          <a:solidFill>
            <a:srgbClr val="D2734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altLang="ar-SA" sz="2800" dirty="0">
                <a:latin typeface="Times New Roman" panose="02020603050405020304" charset="0"/>
                <a:cs typeface="Times New Roman" panose="02020603050405020304" charset="0"/>
              </a:rPr>
              <a:t>Thank you for Your kind Attention</a:t>
            </a:r>
          </a:p>
        </p:txBody>
      </p:sp>
      <p:pic>
        <p:nvPicPr>
          <p:cNvPr id="2" name="Google Shape;249;p24" descr="image.png">
            <a:extLst>
              <a:ext uri="{FF2B5EF4-FFF2-40B4-BE49-F238E27FC236}">
                <a16:creationId xmlns:a16="http://schemas.microsoft.com/office/drawing/2014/main" id="{E41D679A-C3B7-3939-624E-FC781E382A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1577" y="621502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50;p24">
            <a:extLst>
              <a:ext uri="{FF2B5EF4-FFF2-40B4-BE49-F238E27FC236}">
                <a16:creationId xmlns:a16="http://schemas.microsoft.com/office/drawing/2014/main" id="{F6251B88-05B7-4FA8-F095-4CB393306A51}"/>
              </a:ext>
            </a:extLst>
          </p:cNvPr>
          <p:cNvSpPr txBox="1"/>
          <p:nvPr/>
        </p:nvSpPr>
        <p:spPr>
          <a:xfrm>
            <a:off x="1488812" y="4464149"/>
            <a:ext cx="798099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97316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شكراً</a:t>
            </a:r>
            <a:r>
              <a:rPr lang="en-US" sz="6000" b="1" i="0" u="none" strike="noStrike" cap="none" dirty="0">
                <a:solidFill>
                  <a:srgbClr val="F97316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6000" b="1" i="0" u="none" strike="noStrike" cap="none" dirty="0" err="1">
                <a:solidFill>
                  <a:srgbClr val="F97316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لحسن</a:t>
            </a:r>
            <a:r>
              <a:rPr lang="en-US" sz="6000" b="1" i="0" u="none" strike="noStrike" cap="none" dirty="0">
                <a:solidFill>
                  <a:srgbClr val="F97316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en-US" sz="6000" b="1" i="0" u="none" strike="noStrike" cap="none" dirty="0" err="1">
                <a:solidFill>
                  <a:srgbClr val="F97316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استماعكم</a:t>
            </a:r>
            <a:endParaRPr dirty="0">
              <a:latin typeface="Monotype Koufi" pitchFamily="2" charset="-78"/>
              <a:ea typeface="Monotype Koufi" pitchFamily="2" charset="-78"/>
              <a:cs typeface="Monotype Koufi" pitchFamily="2" charset="-7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9E74-6437-0FE8-F2DF-82BDC758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64" y="123290"/>
            <a:ext cx="11681717" cy="662683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2000" b="1" dirty="0"/>
              <a:t>الملحقات</a:t>
            </a:r>
            <a:r>
              <a:rPr lang="ar-SA" sz="2000" dirty="0"/>
              <a:t>:</a:t>
            </a:r>
            <a:br>
              <a:rPr lang="ar-SA" sz="2000" dirty="0"/>
            </a:br>
            <a:r>
              <a:rPr lang="ar-SA" sz="2000" dirty="0"/>
              <a:t>1- الكود :كود النموذج كملف بايثون باسم (</a:t>
            </a:r>
            <a:r>
              <a:rPr lang="en-US" sz="2000" dirty="0"/>
              <a:t>diabetes_predict.py</a:t>
            </a:r>
            <a:r>
              <a:rPr lang="ar-SA" sz="2000" dirty="0"/>
              <a:t>) .</a:t>
            </a:r>
            <a:br>
              <a:rPr lang="ar-SA" sz="2000" dirty="0"/>
            </a:br>
            <a:r>
              <a:rPr lang="ar-SA" sz="2000" dirty="0"/>
              <a:t>2- قاعدة بيانات (</a:t>
            </a:r>
            <a:r>
              <a:rPr lang="en-US" sz="2000" b="1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Pima Indians</a:t>
            </a:r>
            <a:r>
              <a:rPr lang="ar-SA" sz="2000" b="1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)</a:t>
            </a:r>
            <a:r>
              <a:rPr lang="ar-SA" sz="2000" b="1" dirty="0">
                <a:solidFill>
                  <a:srgbClr val="DAFFDE"/>
                </a:solidFill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 </a:t>
            </a:r>
            <a:r>
              <a:rPr lang="ar-SA" sz="2000" b="1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باسم (</a:t>
            </a:r>
            <a:r>
              <a:rPr lang="en-US" sz="2000" b="1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diabetes_data.csv</a:t>
            </a:r>
            <a:r>
              <a:rPr lang="ar-SA" sz="2000" b="1" dirty="0">
                <a:latin typeface="Cairo"/>
                <a:ea typeface="Monotype Koufi" pitchFamily="2" charset="-78"/>
                <a:cs typeface="Monotype Koufi" pitchFamily="2" charset="-78"/>
                <a:sym typeface="Cairo"/>
              </a:rPr>
              <a:t>).</a:t>
            </a:r>
            <a:br>
              <a:rPr lang="ar-SA" sz="2000" dirty="0"/>
            </a:br>
            <a:r>
              <a:rPr lang="ar-SA" sz="2000" dirty="0"/>
              <a:t>3- الملف التنفيذي للنموذج باسم (</a:t>
            </a:r>
            <a:r>
              <a:rPr lang="en-US" sz="2000" b="1" dirty="0"/>
              <a:t>diabetes_predict.exe</a:t>
            </a:r>
            <a:r>
              <a:rPr lang="ar-SA" sz="2000" dirty="0"/>
              <a:t>) داخل المجلد (</a:t>
            </a:r>
            <a:r>
              <a:rPr lang="en-US" sz="2000" b="1" dirty="0" err="1"/>
              <a:t>dist</a:t>
            </a:r>
            <a:r>
              <a:rPr lang="ar-SA" sz="2000" dirty="0"/>
              <a:t>)</a:t>
            </a:r>
            <a:r>
              <a:rPr lang="en-US" sz="2000" dirty="0"/>
              <a:t> </a:t>
            </a:r>
            <a:r>
              <a:rPr lang="ar-SA" sz="2000" dirty="0"/>
              <a:t> ومعه داخل نفس المجلد ملف  النموذج الذي انشأه البرنامج بعد التدريب باسم (</a:t>
            </a:r>
            <a:r>
              <a:rPr lang="en-US" sz="2000" b="1" dirty="0" err="1"/>
              <a:t>diabetes_model.pkl</a:t>
            </a:r>
            <a:r>
              <a:rPr lang="ar-SA" sz="2000" dirty="0"/>
              <a:t>).</a:t>
            </a:r>
            <a:br>
              <a:rPr lang="ar-SA" sz="2000" dirty="0"/>
            </a:br>
            <a:r>
              <a:rPr lang="ar-SA" sz="2000" dirty="0"/>
              <a:t>ملحوظة: يمكن تشغيل البرنامج مباشرة بعد فتح للمجلد (</a:t>
            </a:r>
            <a:r>
              <a:rPr lang="en-US" sz="2000" dirty="0" err="1"/>
              <a:t>dist</a:t>
            </a:r>
            <a:r>
              <a:rPr lang="ar-SA" sz="2000" dirty="0"/>
              <a:t>)</a:t>
            </a:r>
            <a:r>
              <a:rPr lang="en-US" sz="2000" dirty="0"/>
              <a:t> </a:t>
            </a:r>
            <a:r>
              <a:rPr lang="ar-SA" sz="2000" dirty="0"/>
              <a:t> ثم فتح الملف (</a:t>
            </a:r>
            <a:r>
              <a:rPr lang="en-US" sz="2000" b="1" dirty="0"/>
              <a:t>diabetes_predict.exe</a:t>
            </a:r>
            <a:r>
              <a:rPr lang="ar-SA" sz="2000" dirty="0"/>
              <a:t>) .</a:t>
            </a:r>
            <a:br>
              <a:rPr lang="ar-SA" sz="2000" dirty="0"/>
            </a:br>
            <a:r>
              <a:rPr lang="ar-SA" sz="2000" dirty="0"/>
              <a:t>4-  ملف </a:t>
            </a:r>
            <a:r>
              <a:rPr lang="en-US" sz="2000" dirty="0"/>
              <a:t>pdf</a:t>
            </a:r>
            <a:r>
              <a:rPr lang="ar-SA" sz="2000" dirty="0"/>
              <a:t> يشرح طريقة تشغيل البرنامج باسم (</a:t>
            </a:r>
            <a:r>
              <a:rPr lang="ar-SA" sz="2000" b="1" dirty="0"/>
              <a:t>دليل تشغيل نظام التشخيص التنبئي للسكري</a:t>
            </a:r>
            <a:r>
              <a:rPr lang="ar-SA" sz="2000" dirty="0"/>
              <a:t>).</a:t>
            </a:r>
            <a:br>
              <a:rPr lang="en-US" sz="2000" dirty="0"/>
            </a:br>
            <a:r>
              <a:rPr lang="ar-SA" sz="2000" dirty="0"/>
              <a:t>5- ملف </a:t>
            </a:r>
            <a:r>
              <a:rPr lang="en-US" sz="2000" dirty="0"/>
              <a:t>pdf</a:t>
            </a:r>
            <a:r>
              <a:rPr lang="ar-SA" sz="2000" dirty="0"/>
              <a:t> يشرح اهم الدوال والاكواد في النموذج .</a:t>
            </a:r>
            <a:br>
              <a:rPr lang="ar-SA" sz="2000" dirty="0"/>
            </a:br>
            <a:r>
              <a:rPr lang="ar-SA" sz="2000" dirty="0"/>
              <a:t>6- ملف عرض المشروع باسم (</a:t>
            </a:r>
            <a:r>
              <a:rPr lang="en-US" sz="2000" b="1" dirty="0"/>
              <a:t>project </a:t>
            </a:r>
            <a:r>
              <a:rPr lang="en-US" sz="2000" b="1" dirty="0" err="1"/>
              <a:t>presention</a:t>
            </a:r>
            <a:r>
              <a:rPr lang="ar-SA" sz="2000" dirty="0"/>
              <a:t>) الملف (</a:t>
            </a:r>
            <a:r>
              <a:rPr lang="ar-SA" sz="2000" b="1" dirty="0"/>
              <a:t>بوربوينت + </a:t>
            </a:r>
            <a:r>
              <a:rPr lang="en-US" sz="2000" dirty="0"/>
              <a:t>pdf</a:t>
            </a:r>
            <a:r>
              <a:rPr lang="ar-SA" sz="2000" dirty="0"/>
              <a:t>).</a:t>
            </a:r>
            <a:br>
              <a:rPr lang="ar-SA" sz="2000" dirty="0"/>
            </a:br>
            <a:r>
              <a:rPr lang="ar-SA" sz="2000" dirty="0"/>
              <a:t>7- تقرير عن المشروع كملف </a:t>
            </a:r>
            <a:r>
              <a:rPr lang="en-US" sz="2000" dirty="0"/>
              <a:t>pdf</a:t>
            </a:r>
            <a:r>
              <a:rPr lang="ar-SA" sz="2000" dirty="0"/>
              <a:t> باسم (</a:t>
            </a:r>
            <a:r>
              <a:rPr lang="en-US" sz="2000" b="1" dirty="0"/>
              <a:t>Diabetes_Project_Report.pdf</a:t>
            </a:r>
            <a:r>
              <a:rPr lang="ar-SA" sz="2000" dirty="0"/>
              <a:t>).</a:t>
            </a:r>
            <a:br>
              <a:rPr lang="ar-SA" sz="2000" dirty="0"/>
            </a:br>
            <a:r>
              <a:rPr lang="ar-SA" sz="2000" dirty="0"/>
              <a:t>* كل الملفات من (4 الى 7) داخل مجلد باسم (</a:t>
            </a:r>
            <a:r>
              <a:rPr lang="ar-SA" sz="2000" b="1" dirty="0"/>
              <a:t>الملحقات الاضافية</a:t>
            </a:r>
            <a:r>
              <a:rPr lang="en-US" sz="2000" b="1" dirty="0"/>
              <a:t>pdf</a:t>
            </a:r>
            <a:r>
              <a:rPr lang="ar-SA" sz="2000" dirty="0"/>
              <a:t>).</a:t>
            </a:r>
            <a:br>
              <a:rPr lang="ar-SA" sz="2000" dirty="0"/>
            </a:br>
            <a:r>
              <a:rPr lang="ar-SA" sz="2000" dirty="0"/>
              <a:t>8-  مجلد احتياطي باسم (</a:t>
            </a:r>
            <a:r>
              <a:rPr lang="en-US" sz="2000" b="1" dirty="0"/>
              <a:t>Reserve</a:t>
            </a:r>
            <a:r>
              <a:rPr lang="ar-SA" sz="2000" dirty="0"/>
              <a:t>) وبداخله ( مجموعة ملفات ومجلدات) يمكن تشغيل البرنامج بعد فتح المجلد</a:t>
            </a:r>
            <a:r>
              <a:rPr lang="en-US" sz="2000" dirty="0"/>
              <a:t> </a:t>
            </a:r>
            <a:r>
              <a:rPr lang="en-US" sz="2000" b="1" dirty="0"/>
              <a:t>Reserve</a:t>
            </a:r>
            <a:r>
              <a:rPr lang="en-US" sz="2000" dirty="0"/>
              <a:t>)</a:t>
            </a:r>
            <a:r>
              <a:rPr lang="ar-SA" sz="2000" dirty="0"/>
              <a:t>) ثم فتح المجلد (</a:t>
            </a:r>
            <a:r>
              <a:rPr lang="en-US" sz="2000" b="1" dirty="0" err="1"/>
              <a:t>dist</a:t>
            </a:r>
            <a:r>
              <a:rPr lang="ar-SA" sz="2000" dirty="0"/>
              <a:t>)</a:t>
            </a:r>
            <a:r>
              <a:rPr lang="en-US" sz="2000" dirty="0"/>
              <a:t> </a:t>
            </a:r>
            <a:r>
              <a:rPr lang="ar-SA" sz="2000" dirty="0"/>
              <a:t> الذي داخله ثم فتح الملف التنفيذي الذي داخله (</a:t>
            </a:r>
            <a:r>
              <a:rPr lang="en-US" sz="2000" b="1" dirty="0"/>
              <a:t>diabetes_predict.exe</a:t>
            </a:r>
            <a:r>
              <a:rPr lang="ar-SA" sz="2000" dirty="0"/>
              <a:t>) وذلك اذا لم يفتح </a:t>
            </a:r>
            <a:r>
              <a:rPr lang="ar-SA" sz="2000" dirty="0" err="1"/>
              <a:t>النموذح</a:t>
            </a:r>
            <a:r>
              <a:rPr lang="ar-SA" sz="2000" dirty="0"/>
              <a:t>  بالطريقة الأولى (فقرة  3) .</a:t>
            </a:r>
            <a:br>
              <a:rPr lang="en-US" sz="2000" dirty="0"/>
            </a:br>
            <a:r>
              <a:rPr lang="ar-SA" sz="2000" dirty="0"/>
              <a:t> 9- تم وضع كل المجلدات والملفات قي مجلد واحد باسم (</a:t>
            </a:r>
            <a:r>
              <a:rPr lang="en-US" sz="2000" b="1" dirty="0" err="1"/>
              <a:t>Projet</a:t>
            </a:r>
            <a:r>
              <a:rPr lang="en-US" sz="2000" b="1" dirty="0"/>
              <a:t> of Mohammed </a:t>
            </a:r>
            <a:r>
              <a:rPr lang="en-US" sz="2000" b="1" dirty="0" err="1"/>
              <a:t>Abulgasim</a:t>
            </a:r>
            <a:r>
              <a:rPr lang="ar-SA" sz="2000" dirty="0"/>
              <a:t>) ثم تم ضغط هذا المجلد ليسهل نقله وارساله. 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5842297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2936</TotalTime>
  <Words>824</Words>
  <Application>Microsoft Office PowerPoint</Application>
  <PresentationFormat>شاشة عريضة</PresentationFormat>
  <Paragraphs>100</Paragraphs>
  <Slides>18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30" baseType="lpstr">
      <vt:lpstr>Aptos</vt:lpstr>
      <vt:lpstr>Aptos Display</vt:lpstr>
      <vt:lpstr>Arial</vt:lpstr>
      <vt:lpstr>Bahnschrift SemiCondensed</vt:lpstr>
      <vt:lpstr>Cairo</vt:lpstr>
      <vt:lpstr>Calibri</vt:lpstr>
      <vt:lpstr>Courier New</vt:lpstr>
      <vt:lpstr>Monotype Koufi</vt:lpstr>
      <vt:lpstr>Oswald</vt:lpstr>
      <vt:lpstr>Simplified Arabic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الملحقات: 1- الكود :كود النموذج كملف بايثون باسم (diabetes_predict.py) . 2- قاعدة بيانات (Pima Indians) باسم (diabetes_data.csv). 3- الملف التنفيذي للنموذج باسم (diabetes_predict.exe) داخل المجلد (dist)  ومعه داخل نفس المجلد ملف  النموذج الذي انشأه البرنامج بعد التدريب باسم (diabetes_model.pkl). ملحوظة: يمكن تشغيل البرنامج مباشرة بعد فتح للمجلد (dist)  ثم فتح الملف (diabetes_predict.exe) . 4-  ملف pdf يشرح طريقة تشغيل البرنامج باسم (دليل تشغيل نظام التشخيص التنبئي للسكري). 5- ملف pdf يشرح اهم الدوال والاكواد في النموذج . 6- ملف عرض المشروع باسم (project presention) الملف (بوربوينت + pdf). 7- تقرير عن المشروع كملف pdf باسم (Diabetes_Project_Report.pdf). * كل الملفات من (4 الى 7) داخل مجلد باسم (الملحقات الاضافيةpdf). 8-  مجلد احتياطي باسم (Reserve) وبداخله ( مجموعة ملفات ومجلدات) يمكن تشغيل البرنامج بعد فتح المجلد Reserve)) ثم فتح المجلد (dist)  الذي داخله ثم فتح الملف التنفيذي الذي داخله (diabetes_predict.exe) وذلك اذا لم يفتح النموذح  بالطريقة الأولى (فقرة  3) .  9- تم وضع كل المجلدات والملفات قي مجلد واحد باسم (Projet of Mohammed Abulgasim) ثم تم ضغط هذا المجلد ليسهل نقله وارساله. 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Mamoun</dc:creator>
  <cp:lastModifiedBy>Naser Asiri</cp:lastModifiedBy>
  <cp:revision>92</cp:revision>
  <dcterms:created xsi:type="dcterms:W3CDTF">2025-09-14T18:33:00Z</dcterms:created>
  <dcterms:modified xsi:type="dcterms:W3CDTF">2026-05-10T05:17:31Z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12B7CF987E1142A7B8A5A1D57DCE850F_13</vt:lpwstr>
  </property>
  <property fmtid="{D5CDD505-2E9C-101B-9397-08002B2CF9AE}" pid="3" name="KSOProductBuildVer">
    <vt:lpwstr>1033-12.2.0.22549</vt:lpwstr>
  </property>
</Properties>
</file>